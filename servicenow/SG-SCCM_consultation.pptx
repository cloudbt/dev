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548640" y="0"/>
            <a:ext cx="8046720" cy="8229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SG-SCCM Data Source 修正に関するご相談</a:t>
            </a:r>
            <a:endParaRPr lang="en-US" sz="2200" dirty="0"/>
          </a:p>
        </p:txBody>
      </p:sp>
      <p:sp>
        <p:nvSpPr>
          <p:cNvPr id="4" name="Text 2"/>
          <p:cNvSpPr/>
          <p:nvPr/>
        </p:nvSpPr>
        <p:spPr>
          <a:xfrm>
            <a:off x="6583680" y="0"/>
            <a:ext cx="2194560" cy="82296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2026年4月 / SGCチーム</a:t>
            </a:r>
            <a:endParaRPr lang="en-US" sz="1000" dirty="0"/>
          </a:p>
        </p:txBody>
      </p:sp>
      <p:pic>
        <p:nvPicPr>
          <p:cNvPr id="5" name="Image 0" descr="preencoded.png">    </p:cNvPr>
          <p:cNvPicPr>
            <a:picLocks noChangeAspect="1"/>
          </p:cNvPicPr>
          <p:nvPr/>
        </p:nvPicPr>
        <p:blipFill>
          <a:blip r:embed="rId1"/>
          <a:stretch>
            <a:fillRect/>
          </a:stretch>
        </p:blipFill>
        <p:spPr>
          <a:xfrm>
            <a:off x="502920" y="1069848"/>
            <a:ext cx="256032" cy="256032"/>
          </a:xfrm>
          <a:prstGeom prst="rect">
            <a:avLst/>
          </a:prstGeom>
        </p:spPr>
      </p:pic>
      <p:sp>
        <p:nvSpPr>
          <p:cNvPr id="6" name="Text 3"/>
          <p:cNvSpPr/>
          <p:nvPr/>
        </p:nvSpPr>
        <p:spPr>
          <a:xfrm>
            <a:off x="822960" y="1051560"/>
            <a:ext cx="274320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発生事象</a:t>
            </a:r>
            <a:endParaRPr lang="en-US" sz="1500" dirty="0"/>
          </a:p>
        </p:txBody>
      </p:sp>
      <p:sp>
        <p:nvSpPr>
          <p:cNvPr id="7" name="Text 4"/>
          <p:cNvSpPr/>
          <p:nvPr/>
        </p:nvSpPr>
        <p:spPr>
          <a:xfrm>
            <a:off x="548640" y="1399032"/>
            <a:ext cx="4663440" cy="914400"/>
          </a:xfrm>
          <a:prstGeom prst="rect">
            <a:avLst/>
          </a:prstGeom>
          <a:noFill/>
          <a:ln/>
        </p:spPr>
        <p:txBody>
          <a:bodyPr wrap="square" lIns="0" tIns="0" rIns="0" bIns="0" rtlCol="0" anchor="ctr"/>
          <a:lstStyle/>
          <a:p>
            <a:pPr indent="0" marL="0">
              <a:lnSpc>
                <a:spcPct val="125000"/>
              </a:lnSpc>
              <a:buNone/>
            </a:pPr>
            <a:r>
              <a:rPr lang="en-US" sz="1050" dirty="0">
                <a:solidFill>
                  <a:srgbClr val="2D3748"/>
                </a:solidFill>
                <a:latin typeface="Calibri" pitchFamily="34" charset="0"/>
                <a:ea typeface="Calibri" pitchFamily="34" charset="-122"/>
                <a:cs typeface="Calibri" pitchFamily="34" charset="-120"/>
              </a:rPr>
              <a:t>SG-SCCM マルチインスタンス構成（一般系 it_prod / 放送系 ot_prodE）において、</a:t>
            </a:r>
            <a:endParaRPr lang="en-US" sz="1050" dirty="0"/>
          </a:p>
          <a:p>
            <a:pPr indent="0" marL="0">
              <a:lnSpc>
                <a:spcPct val="125000"/>
              </a:lnSpc>
              <a:buNone/>
            </a:pPr>
            <a:r>
              <a:rPr lang="en-US" sz="1050" b="1" dirty="0">
                <a:solidFill>
                  <a:srgbClr val="2D3748"/>
                </a:solidFill>
                <a:latin typeface="Calibri" pitchFamily="34" charset="0"/>
                <a:ea typeface="Calibri" pitchFamily="34" charset="-122"/>
                <a:cs typeface="Calibri" pitchFamily="34" charset="-120"/>
              </a:rPr>
              <a:t>一般系の Import 実行時に、放送系 CI の Name / Serial number が一般系の別端末の値で上書きされる事象が発生。</a:t>
            </a:r>
            <a:endParaRPr lang="en-US" sz="1050" dirty="0"/>
          </a:p>
          <a:p>
            <a:pPr indent="0" marL="0">
              <a:lnSpc>
                <a:spcPct val="125000"/>
              </a:lnSpc>
              <a:buNone/>
            </a:pPr>
            <a:r>
              <a:rPr lang="en-US" sz="1050" dirty="0">
                <a:solidFill>
                  <a:srgbClr val="2D3748"/>
                </a:solidFill>
                <a:latin typeface="Calibri" pitchFamily="34" charset="0"/>
                <a:ea typeface="Calibri" pitchFamily="34" charset="-122"/>
                <a:cs typeface="Calibri" pitchFamily="34" charset="-120"/>
              </a:rPr>
              <a:t>その後、放送系 Import で元に戻るが、この上書き⇔復元が繰り返され、CI 属性の履歴が汚染される。</a:t>
            </a:r>
            <a:endParaRPr lang="en-US" sz="1050" dirty="0"/>
          </a:p>
        </p:txBody>
      </p:sp>
      <p:sp>
        <p:nvSpPr>
          <p:cNvPr id="8" name="Shape 5"/>
          <p:cNvSpPr/>
          <p:nvPr/>
        </p:nvSpPr>
        <p:spPr>
          <a:xfrm>
            <a:off x="5394960" y="1124712"/>
            <a:ext cx="3383280" cy="1207008"/>
          </a:xfrm>
          <a:prstGeom prst="rect">
            <a:avLst/>
          </a:prstGeom>
          <a:solidFill>
            <a:srgbClr val="FFF7ED"/>
          </a:solidFill>
          <a:ln w="9525">
            <a:solidFill>
              <a:srgbClr val="FDBA74"/>
            </a:solidFill>
            <a:prstDash val="solid"/>
          </a:ln>
        </p:spPr>
      </p:sp>
      <p:sp>
        <p:nvSpPr>
          <p:cNvPr id="9" name="Text 6"/>
          <p:cNvSpPr/>
          <p:nvPr/>
        </p:nvSpPr>
        <p:spPr>
          <a:xfrm>
            <a:off x="5532120" y="1179576"/>
            <a:ext cx="3108960" cy="201168"/>
          </a:xfrm>
          <a:prstGeom prst="rect">
            <a:avLst/>
          </a:prstGeom>
          <a:noFill/>
          <a:ln/>
        </p:spPr>
        <p:txBody>
          <a:bodyPr wrap="square" lIns="0" tIns="0" rIns="0" bIns="0" rtlCol="0" anchor="ctr"/>
          <a:lstStyle/>
          <a:p>
            <a:pPr indent="0" marL="0">
              <a:buNone/>
            </a:pPr>
            <a:r>
              <a:rPr lang="en-US" sz="900" b="1" dirty="0">
                <a:solidFill>
                  <a:srgbClr val="EA580C"/>
                </a:solidFill>
                <a:latin typeface="Calibri" pitchFamily="34" charset="0"/>
                <a:ea typeface="Calibri" pitchFamily="34" charset="-122"/>
                <a:cs typeface="Calibri" pitchFamily="34" charset="-120"/>
              </a:rPr>
              <a:t>発生例</a:t>
            </a:r>
            <a:endParaRPr lang="en-US" sz="900" dirty="0"/>
          </a:p>
        </p:txBody>
      </p:sp>
      <p:sp>
        <p:nvSpPr>
          <p:cNvPr id="10" name="Text 7"/>
          <p:cNvSpPr/>
          <p:nvPr/>
        </p:nvSpPr>
        <p:spPr>
          <a:xfrm>
            <a:off x="5532120" y="1399032"/>
            <a:ext cx="3108960" cy="914400"/>
          </a:xfrm>
          <a:prstGeom prst="rect">
            <a:avLst/>
          </a:prstGeom>
          <a:noFill/>
          <a:ln/>
        </p:spPr>
        <p:txBody>
          <a:bodyPr wrap="square" lIns="0" tIns="0" rIns="0" bIns="0" rtlCol="0" anchor="ctr"/>
          <a:lstStyle/>
          <a:p>
            <a:pPr indent="0" marL="0">
              <a:lnSpc>
                <a:spcPct val="115000"/>
              </a:lnSpc>
              <a:buNone/>
            </a:pPr>
            <a:r>
              <a:rPr lang="en-US" sz="850" b="1" dirty="0">
                <a:solidFill>
                  <a:srgbClr val="2D3748"/>
                </a:solidFill>
                <a:latin typeface="Calibri" pitchFamily="34" charset="0"/>
                <a:ea typeface="Calibri" pitchFamily="34" charset="-122"/>
                <a:cs typeface="Calibri" pitchFamily="34" charset="-120"/>
              </a:rPr>
              <a:t>放送系CI（端末A）</a:t>
            </a:r>
            <a:endParaRPr lang="en-US" sz="850" dirty="0"/>
          </a:p>
          <a:p>
            <a:pPr indent="0" marL="0">
              <a:lnSpc>
                <a:spcPct val="115000"/>
              </a:lnSpc>
              <a:buNone/>
            </a:pPr>
            <a:r>
              <a:rPr lang="en-US" sz="800" dirty="0">
                <a:solidFill>
                  <a:srgbClr val="2D3748"/>
                </a:solidFill>
                <a:latin typeface="Consolas" pitchFamily="34" charset="0"/>
                <a:ea typeface="Consolas" pitchFamily="34" charset="-122"/>
                <a:cs typeface="Consolas" pitchFamily="34" charset="-120"/>
              </a:rPr>
              <a:t>  Name=wrmas-f-ost03 / Serial=8Z018G4</a:t>
            </a:r>
            <a:endParaRPr lang="en-US" sz="850" dirty="0"/>
          </a:p>
          <a:p>
            <a:pPr indent="0" marL="0">
              <a:lnSpc>
                <a:spcPct val="115000"/>
              </a:lnSpc>
              <a:buNone/>
            </a:pPr>
            <a:r>
              <a:rPr lang="en-US" sz="850" b="1" dirty="0">
                <a:solidFill>
                  <a:srgbClr val="2D3748"/>
                </a:solidFill>
                <a:latin typeface="Calibri" pitchFamily="34" charset="0"/>
                <a:ea typeface="Calibri" pitchFamily="34" charset="-122"/>
                <a:cs typeface="Calibri" pitchFamily="34" charset="-120"/>
              </a:rPr>
              <a:t>一般系CI（端末B）</a:t>
            </a:r>
            <a:endParaRPr lang="en-US" sz="850" dirty="0"/>
          </a:p>
          <a:p>
            <a:pPr indent="0" marL="0">
              <a:lnSpc>
                <a:spcPct val="115000"/>
              </a:lnSpc>
              <a:buNone/>
            </a:pPr>
            <a:r>
              <a:rPr lang="en-US" sz="800" dirty="0">
                <a:solidFill>
                  <a:srgbClr val="2D3748"/>
                </a:solidFill>
                <a:latin typeface="Consolas" pitchFamily="34" charset="0"/>
                <a:ea typeface="Consolas" pitchFamily="34" charset="-122"/>
                <a:cs typeface="Consolas" pitchFamily="34" charset="-120"/>
              </a:rPr>
              <a:t>  Name=01620-21-p07  / Serial=1117Q115H</a:t>
            </a:r>
            <a:endParaRPr lang="en-US" sz="850" dirty="0"/>
          </a:p>
          <a:p>
            <a:pPr indent="0" marL="0">
              <a:lnSpc>
                <a:spcPct val="115000"/>
              </a:lnSpc>
              <a:buNone/>
            </a:pPr>
            <a:r>
              <a:rPr lang="en-US" sz="850" dirty="0">
                <a:solidFill>
                  <a:srgbClr val="DC2626"/>
                </a:solidFill>
                <a:latin typeface="Calibri" pitchFamily="34" charset="0"/>
                <a:ea typeface="Calibri" pitchFamily="34" charset="-122"/>
                <a:cs typeface="Calibri" pitchFamily="34" charset="-120"/>
              </a:rPr>
              <a:t>① 一般系Import → 端末Aが端末Bの値で上書き</a:t>
            </a:r>
            <a:endParaRPr lang="en-US" sz="850" dirty="0"/>
          </a:p>
          <a:p>
            <a:pPr indent="0" marL="0">
              <a:lnSpc>
                <a:spcPct val="115000"/>
              </a:lnSpc>
              <a:buNone/>
            </a:pPr>
            <a:r>
              <a:rPr lang="en-US" sz="850" dirty="0">
                <a:solidFill>
                  <a:srgbClr val="2D3748"/>
                </a:solidFill>
                <a:latin typeface="Calibri" pitchFamily="34" charset="0"/>
                <a:ea typeface="Calibri" pitchFamily="34" charset="-122"/>
                <a:cs typeface="Calibri" pitchFamily="34" charset="-120"/>
              </a:rPr>
              <a:t>② 放送系Import → 端末Aが元に復元</a:t>
            </a:r>
            <a:endParaRPr lang="en-US" sz="850" dirty="0"/>
          </a:p>
          <a:p>
            <a:pPr indent="0" marL="0">
              <a:lnSpc>
                <a:spcPct val="115000"/>
              </a:lnSpc>
              <a:buNone/>
            </a:pPr>
            <a:r>
              <a:rPr lang="en-US" sz="850" dirty="0">
                <a:solidFill>
                  <a:srgbClr val="DC2626"/>
                </a:solidFill>
                <a:latin typeface="Calibri" pitchFamily="34" charset="0"/>
                <a:ea typeface="Calibri" pitchFamily="34" charset="-122"/>
                <a:cs typeface="Calibri" pitchFamily="34" charset="-120"/>
              </a:rPr>
              <a:t>③ ①②が繰り返し → 同一Name/Serialが2件存在</a:t>
            </a:r>
            <a:endParaRPr lang="en-US" sz="850" dirty="0"/>
          </a:p>
        </p:txBody>
      </p:sp>
      <p:sp>
        <p:nvSpPr>
          <p:cNvPr id="11" name="Shape 8"/>
          <p:cNvSpPr/>
          <p:nvPr/>
        </p:nvSpPr>
        <p:spPr>
          <a:xfrm>
            <a:off x="548640" y="2423160"/>
            <a:ext cx="8229600" cy="9144"/>
          </a:xfrm>
          <a:prstGeom prst="rect">
            <a:avLst/>
          </a:prstGeom>
          <a:solidFill>
            <a:srgbClr val="E2E8F0"/>
          </a:solidFill>
          <a:ln/>
        </p:spPr>
      </p:sp>
      <p:pic>
        <p:nvPicPr>
          <p:cNvPr id="12" name="Image 1" descr="preencoded.png">    </p:cNvPr>
          <p:cNvPicPr>
            <a:picLocks noChangeAspect="1"/>
          </p:cNvPicPr>
          <p:nvPr/>
        </p:nvPicPr>
        <p:blipFill>
          <a:blip r:embed="rId2"/>
          <a:stretch>
            <a:fillRect/>
          </a:stretch>
        </p:blipFill>
        <p:spPr>
          <a:xfrm>
            <a:off x="502920" y="2578608"/>
            <a:ext cx="256032" cy="256032"/>
          </a:xfrm>
          <a:prstGeom prst="rect">
            <a:avLst/>
          </a:prstGeom>
        </p:spPr>
      </p:pic>
      <p:sp>
        <p:nvSpPr>
          <p:cNvPr id="13" name="Text 9"/>
          <p:cNvSpPr/>
          <p:nvPr/>
        </p:nvSpPr>
        <p:spPr>
          <a:xfrm>
            <a:off x="822960" y="2560320"/>
            <a:ext cx="365760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ServiceNow サポート回答</a:t>
            </a:r>
            <a:endParaRPr lang="en-US" sz="1500" dirty="0"/>
          </a:p>
        </p:txBody>
      </p:sp>
      <p:sp>
        <p:nvSpPr>
          <p:cNvPr id="14" name="Shape 10"/>
          <p:cNvSpPr/>
          <p:nvPr/>
        </p:nvSpPr>
        <p:spPr>
          <a:xfrm>
            <a:off x="548640" y="2971800"/>
            <a:ext cx="2560320" cy="1005840"/>
          </a:xfrm>
          <a:prstGeom prst="rect">
            <a:avLst/>
          </a:prstGeom>
          <a:solidFill>
            <a:srgbClr val="F0F2F8"/>
          </a:solidFill>
          <a:ln/>
        </p:spPr>
      </p:sp>
      <p:sp>
        <p:nvSpPr>
          <p:cNvPr id="15" name="Shape 11"/>
          <p:cNvSpPr/>
          <p:nvPr/>
        </p:nvSpPr>
        <p:spPr>
          <a:xfrm>
            <a:off x="548640" y="2971800"/>
            <a:ext cx="54864" cy="1005840"/>
          </a:xfrm>
          <a:prstGeom prst="rect">
            <a:avLst/>
          </a:prstGeom>
          <a:solidFill>
            <a:srgbClr val="3B82F6"/>
          </a:solidFill>
          <a:ln/>
        </p:spPr>
      </p:sp>
      <p:sp>
        <p:nvSpPr>
          <p:cNvPr id="16" name="Text 12"/>
          <p:cNvSpPr/>
          <p:nvPr/>
        </p:nvSpPr>
        <p:spPr>
          <a:xfrm>
            <a:off x="713232" y="3044952"/>
            <a:ext cx="2286000" cy="201168"/>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原因</a:t>
            </a:r>
            <a:endParaRPr lang="en-US" sz="1100" dirty="0"/>
          </a:p>
        </p:txBody>
      </p:sp>
      <p:sp>
        <p:nvSpPr>
          <p:cNvPr id="17" name="Text 13"/>
          <p:cNvSpPr/>
          <p:nvPr/>
        </p:nvSpPr>
        <p:spPr>
          <a:xfrm>
            <a:off x="713232" y="3264408"/>
            <a:ext cx="2286000" cy="658368"/>
          </a:xfrm>
          <a:prstGeom prst="rect">
            <a:avLst/>
          </a:prstGeom>
          <a:noFill/>
          <a:ln/>
        </p:spPr>
        <p:txBody>
          <a:bodyPr wrap="square" lIns="0" tIns="0" rIns="0" bIns="0" rtlCol="0" anchor="ctr"/>
          <a:lstStyle/>
          <a:p>
            <a:pPr indent="0" marL="0">
              <a:lnSpc>
                <a:spcPct val="120000"/>
              </a:lnSpc>
              <a:buNone/>
            </a:pPr>
            <a:r>
              <a:rPr lang="en-US" sz="900" dirty="0">
                <a:solidFill>
                  <a:srgbClr val="2D3748"/>
                </a:solidFill>
                <a:latin typeface="Calibri" pitchFamily="34" charset="0"/>
                <a:ea typeface="Calibri" pitchFamily="34" charset="-122"/>
                <a:cs typeface="Calibri" pitchFamily="34" charset="-120"/>
              </a:rPr>
              <a:t>両 Data Source の SQL で u_connectionid が同一値 → sys_object_source ID が重複し、IRE が誤マッチ</a:t>
            </a:r>
            <a:endParaRPr lang="en-US" sz="900" dirty="0"/>
          </a:p>
        </p:txBody>
      </p:sp>
      <p:sp>
        <p:nvSpPr>
          <p:cNvPr id="18" name="Shape 14"/>
          <p:cNvSpPr/>
          <p:nvPr/>
        </p:nvSpPr>
        <p:spPr>
          <a:xfrm>
            <a:off x="3291840" y="2971800"/>
            <a:ext cx="2560320" cy="1005840"/>
          </a:xfrm>
          <a:prstGeom prst="rect">
            <a:avLst/>
          </a:prstGeom>
          <a:solidFill>
            <a:srgbClr val="DCFCE7"/>
          </a:solidFill>
          <a:ln/>
        </p:spPr>
      </p:sp>
      <p:sp>
        <p:nvSpPr>
          <p:cNvPr id="19" name="Shape 15"/>
          <p:cNvSpPr/>
          <p:nvPr/>
        </p:nvSpPr>
        <p:spPr>
          <a:xfrm>
            <a:off x="3291840" y="2971800"/>
            <a:ext cx="54864" cy="1005840"/>
          </a:xfrm>
          <a:prstGeom prst="rect">
            <a:avLst/>
          </a:prstGeom>
          <a:solidFill>
            <a:srgbClr val="16A34A"/>
          </a:solidFill>
          <a:ln/>
        </p:spPr>
      </p:sp>
      <p:sp>
        <p:nvSpPr>
          <p:cNvPr id="20" name="Text 16"/>
          <p:cNvSpPr/>
          <p:nvPr/>
        </p:nvSpPr>
        <p:spPr>
          <a:xfrm>
            <a:off x="3456432" y="3044952"/>
            <a:ext cx="2286000" cy="201168"/>
          </a:xfrm>
          <a:prstGeom prst="rect">
            <a:avLst/>
          </a:prstGeom>
          <a:noFill/>
          <a:ln/>
        </p:spPr>
        <p:txBody>
          <a:bodyPr wrap="square" lIns="0" tIns="0" rIns="0" bIns="0"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対応方法</a:t>
            </a:r>
            <a:endParaRPr lang="en-US" sz="1100" dirty="0"/>
          </a:p>
        </p:txBody>
      </p:sp>
      <p:sp>
        <p:nvSpPr>
          <p:cNvPr id="21" name="Text 17"/>
          <p:cNvSpPr/>
          <p:nvPr/>
        </p:nvSpPr>
        <p:spPr>
          <a:xfrm>
            <a:off x="3456432" y="3264408"/>
            <a:ext cx="2286000" cy="658368"/>
          </a:xfrm>
          <a:prstGeom prst="rect">
            <a:avLst/>
          </a:prstGeom>
          <a:noFill/>
          <a:ln/>
        </p:spPr>
        <p:txBody>
          <a:bodyPr wrap="square" lIns="0" tIns="0" rIns="0" bIns="0" rtlCol="0" anchor="ctr"/>
          <a:lstStyle/>
          <a:p>
            <a:pPr indent="0" marL="0">
              <a:lnSpc>
                <a:spcPct val="120000"/>
              </a:lnSpc>
              <a:buNone/>
            </a:pPr>
            <a:r>
              <a:rPr lang="en-US" sz="900" dirty="0">
                <a:solidFill>
                  <a:srgbClr val="2D3748"/>
                </a:solidFill>
                <a:latin typeface="Calibri" pitchFamily="34" charset="0"/>
                <a:ea typeface="Calibri" pitchFamily="34" charset="-122"/>
                <a:cs typeface="Calibri" pitchFamily="34" charset="-120"/>
              </a:rPr>
              <a:t>両 Data Source の u_connectionid をそれぞれ異なる値に修正（重複行を削除し1列に統一）</a:t>
            </a:r>
            <a:endParaRPr lang="en-US" sz="900" dirty="0"/>
          </a:p>
        </p:txBody>
      </p:sp>
      <p:sp>
        <p:nvSpPr>
          <p:cNvPr id="22" name="Shape 18"/>
          <p:cNvSpPr/>
          <p:nvPr/>
        </p:nvSpPr>
        <p:spPr>
          <a:xfrm>
            <a:off x="6035040" y="2971800"/>
            <a:ext cx="2560320" cy="1005840"/>
          </a:xfrm>
          <a:prstGeom prst="rect">
            <a:avLst/>
          </a:prstGeom>
          <a:solidFill>
            <a:srgbClr val="FEE2E2"/>
          </a:solidFill>
          <a:ln/>
        </p:spPr>
      </p:sp>
      <p:sp>
        <p:nvSpPr>
          <p:cNvPr id="23" name="Shape 19"/>
          <p:cNvSpPr/>
          <p:nvPr/>
        </p:nvSpPr>
        <p:spPr>
          <a:xfrm>
            <a:off x="6035040" y="2971800"/>
            <a:ext cx="54864" cy="1005840"/>
          </a:xfrm>
          <a:prstGeom prst="rect">
            <a:avLst/>
          </a:prstGeom>
          <a:solidFill>
            <a:srgbClr val="DC2626"/>
          </a:solidFill>
          <a:ln/>
        </p:spPr>
      </p:sp>
      <p:sp>
        <p:nvSpPr>
          <p:cNvPr id="24" name="Text 20"/>
          <p:cNvSpPr/>
          <p:nvPr/>
        </p:nvSpPr>
        <p:spPr>
          <a:xfrm>
            <a:off x="6199632" y="3044952"/>
            <a:ext cx="2286000" cy="201168"/>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注意事項</a:t>
            </a:r>
            <a:endParaRPr lang="en-US" sz="1100" dirty="0"/>
          </a:p>
        </p:txBody>
      </p:sp>
      <p:sp>
        <p:nvSpPr>
          <p:cNvPr id="25" name="Text 21"/>
          <p:cNvSpPr/>
          <p:nvPr/>
        </p:nvSpPr>
        <p:spPr>
          <a:xfrm>
            <a:off x="6199632" y="3264408"/>
            <a:ext cx="2286000" cy="658368"/>
          </a:xfrm>
          <a:prstGeom prst="rect">
            <a:avLst/>
          </a:prstGeom>
          <a:noFill/>
          <a:ln/>
        </p:spPr>
        <p:txBody>
          <a:bodyPr wrap="square" lIns="0" tIns="0" rIns="0" bIns="0" rtlCol="0" anchor="ctr"/>
          <a:lstStyle/>
          <a:p>
            <a:pPr indent="0" marL="0">
              <a:lnSpc>
                <a:spcPct val="120000"/>
              </a:lnSpc>
              <a:buNone/>
            </a:pPr>
            <a:r>
              <a:rPr lang="en-US" sz="900" dirty="0">
                <a:solidFill>
                  <a:srgbClr val="2D3748"/>
                </a:solidFill>
                <a:latin typeface="Calibri" pitchFamily="34" charset="0"/>
                <a:ea typeface="Calibri" pitchFamily="34" charset="-122"/>
                <a:cs typeface="Calibri" pitchFamily="34" charset="-120"/>
              </a:rPr>
              <a:t>修正後、全 CI が新規 INSERT として処理される可能性あり。本番適用前に検証環境での動作確認が必須</a:t>
            </a:r>
            <a:endParaRPr lang="en-US" sz="900" dirty="0"/>
          </a:p>
        </p:txBody>
      </p:sp>
      <p:sp>
        <p:nvSpPr>
          <p:cNvPr id="26" name="Shape 22"/>
          <p:cNvSpPr/>
          <p:nvPr/>
        </p:nvSpPr>
        <p:spPr>
          <a:xfrm>
            <a:off x="548640" y="3840480"/>
            <a:ext cx="8229600" cy="502920"/>
          </a:xfrm>
          <a:prstGeom prst="rect">
            <a:avLst/>
          </a:prstGeom>
          <a:solidFill>
            <a:srgbClr val="FEF3C7"/>
          </a:solidFill>
          <a:ln w="9525">
            <a:solidFill>
              <a:srgbClr val="FCD34D"/>
            </a:solidFill>
            <a:prstDash val="solid"/>
          </a:ln>
        </p:spPr>
      </p:sp>
      <p:pic>
        <p:nvPicPr>
          <p:cNvPr id="27" name="Image 2" descr="preencoded.png">    </p:cNvPr>
          <p:cNvPicPr>
            <a:picLocks noChangeAspect="1"/>
          </p:cNvPicPr>
          <p:nvPr/>
        </p:nvPicPr>
        <p:blipFill>
          <a:blip r:embed="rId3"/>
          <a:stretch>
            <a:fillRect/>
          </a:stretch>
        </p:blipFill>
        <p:spPr>
          <a:xfrm>
            <a:off x="658368" y="3959352"/>
            <a:ext cx="256032" cy="256032"/>
          </a:xfrm>
          <a:prstGeom prst="rect">
            <a:avLst/>
          </a:prstGeom>
        </p:spPr>
      </p:pic>
      <p:sp>
        <p:nvSpPr>
          <p:cNvPr id="28" name="Text 23"/>
          <p:cNvSpPr/>
          <p:nvPr/>
        </p:nvSpPr>
        <p:spPr>
          <a:xfrm>
            <a:off x="1005840" y="3840480"/>
            <a:ext cx="7589520" cy="502920"/>
          </a:xfrm>
          <a:prstGeom prst="rect">
            <a:avLst/>
          </a:prstGeom>
          <a:noFill/>
          <a:ln/>
        </p:spPr>
        <p:txBody>
          <a:bodyPr wrap="square" lIns="0" tIns="0" rIns="0" bIns="0" rtlCol="0" anchor="ctr"/>
          <a:lstStyle/>
          <a:p>
            <a:pPr indent="0" marL="0">
              <a:buNone/>
            </a:pPr>
            <a:r>
              <a:rPr lang="en-US" sz="1100" b="1" dirty="0">
                <a:solidFill>
                  <a:srgbClr val="2D3748"/>
                </a:solidFill>
                <a:latin typeface="Calibri" pitchFamily="34" charset="0"/>
                <a:ea typeface="Calibri" pitchFamily="34" charset="-122"/>
                <a:cs typeface="Calibri" pitchFamily="34" charset="-120"/>
              </a:rPr>
              <a:t>課題：</a:t>
            </a:r>
            <a:pPr indent="0" marL="0">
              <a:buNone/>
            </a:pPr>
            <a:r>
              <a:rPr lang="en-US" sz="1100" dirty="0">
                <a:solidFill>
                  <a:srgbClr val="2D3748"/>
                </a:solidFill>
                <a:latin typeface="Calibri" pitchFamily="34" charset="0"/>
                <a:ea typeface="Calibri" pitchFamily="34" charset="-122"/>
                <a:cs typeface="Calibri" pitchFamily="34" charset="-120"/>
              </a:rPr>
              <a:t>当方検証環境は放送系のみ接続のため、両系統のデータが揃わず、本事象の再現・検証ができない状況です。</a:t>
            </a:r>
            <a:endParaRPr lang="en-US" sz="1100" dirty="0"/>
          </a:p>
        </p:txBody>
      </p:sp>
      <p:sp>
        <p:nvSpPr>
          <p:cNvPr id="29" name="Text 24"/>
          <p:cNvSpPr/>
          <p:nvPr/>
        </p:nvSpPr>
        <p:spPr>
          <a:xfrm>
            <a:off x="8229600" y="4754880"/>
            <a:ext cx="548640" cy="274320"/>
          </a:xfrm>
          <a:prstGeom prst="rect">
            <a:avLst/>
          </a:prstGeom>
          <a:noFill/>
          <a:ln/>
        </p:spPr>
        <p:txBody>
          <a:bodyPr wrap="square" lIns="0" tIns="0" rIns="0" bIns="0" rtlCol="0" anchor="ctr"/>
          <a:lstStyle/>
          <a:p>
            <a:pPr algn="r" indent="0" marL="0">
              <a:buNone/>
            </a:pPr>
            <a:r>
              <a:rPr lang="en-US" sz="900" dirty="0">
                <a:solidFill>
                  <a:srgbClr val="8B95A8"/>
                </a:solidFill>
                <a:latin typeface="Calibri" pitchFamily="34" charset="0"/>
                <a:ea typeface="Calibri" pitchFamily="34" charset="-122"/>
                <a:cs typeface="Calibri" pitchFamily="34" charset="-120"/>
              </a:rPr>
              <a:t>1 / 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548640" y="0"/>
            <a:ext cx="7315200" cy="8229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検証方法のご相談</a:t>
            </a:r>
            <a:endParaRPr lang="en-US" sz="2200" dirty="0"/>
          </a:p>
        </p:txBody>
      </p:sp>
      <p:sp>
        <p:nvSpPr>
          <p:cNvPr id="4" name="Text 2"/>
          <p:cNvSpPr/>
          <p:nvPr/>
        </p:nvSpPr>
        <p:spPr>
          <a:xfrm>
            <a:off x="548640" y="914400"/>
            <a:ext cx="8046720" cy="411480"/>
          </a:xfrm>
          <a:prstGeom prst="rect">
            <a:avLst/>
          </a:prstGeom>
          <a:noFill/>
          <a:ln/>
        </p:spPr>
        <p:txBody>
          <a:bodyPr wrap="square" lIns="0" tIns="0" rIns="0" bIns="0" rtlCol="0" anchor="ctr"/>
          <a:lstStyle/>
          <a:p>
            <a:pPr indent="0" marL="0">
              <a:lnSpc>
                <a:spcPct val="120000"/>
              </a:lnSpc>
              <a:buNone/>
            </a:pPr>
            <a:r>
              <a:rPr lang="en-US" sz="1000" dirty="0">
                <a:solidFill>
                  <a:srgbClr val="64748B"/>
                </a:solidFill>
                <a:latin typeface="Calibri" pitchFamily="34" charset="0"/>
                <a:ea typeface="Calibri" pitchFamily="34" charset="-122"/>
                <a:cs typeface="Calibri" pitchFamily="34" charset="-120"/>
              </a:rPr>
              <a:t>サポートより「本番適用前に検証環境での動作確認が必須」との回答を受けておりますが、当方検証環境では放送系のみ接続のため本事象の再現ができません。検証実施方法として以下3案を提示いたします。</a:t>
            </a:r>
            <a:endParaRPr lang="en-US" sz="1000" dirty="0"/>
          </a:p>
        </p:txBody>
      </p:sp>
      <p:sp>
        <p:nvSpPr>
          <p:cNvPr id="5" name="Shape 3"/>
          <p:cNvSpPr/>
          <p:nvPr/>
        </p:nvSpPr>
        <p:spPr>
          <a:xfrm>
            <a:off x="548640" y="1371600"/>
            <a:ext cx="1371600" cy="502920"/>
          </a:xfrm>
          <a:prstGeom prst="rect">
            <a:avLst/>
          </a:prstGeom>
          <a:solidFill>
            <a:srgbClr val="1E2761"/>
          </a:solidFill>
          <a:ln/>
        </p:spPr>
      </p:sp>
      <p:sp>
        <p:nvSpPr>
          <p:cNvPr id="6" name="Text 4"/>
          <p:cNvSpPr/>
          <p:nvPr/>
        </p:nvSpPr>
        <p:spPr>
          <a:xfrm>
            <a:off x="640080" y="1371600"/>
            <a:ext cx="1188720" cy="502920"/>
          </a:xfrm>
          <a:prstGeom prst="rect">
            <a:avLst/>
          </a:prstGeom>
          <a:noFill/>
          <a:ln/>
        </p:spPr>
        <p:txBody>
          <a:bodyPr wrap="square" lIns="0" tIns="0" rIns="0" bIns="0" rtlCol="0" anchor="ctr"/>
          <a:lstStyle/>
          <a:p>
            <a:pPr indent="0" marL="0">
              <a:lnSpc>
                <a:spcPct val="115000"/>
              </a:lnSpc>
              <a:buNone/>
            </a:pPr>
            <a:endParaRPr lang="en-US" sz="900" dirty="0"/>
          </a:p>
        </p:txBody>
      </p:sp>
      <p:sp>
        <p:nvSpPr>
          <p:cNvPr id="7" name="Shape 5"/>
          <p:cNvSpPr/>
          <p:nvPr/>
        </p:nvSpPr>
        <p:spPr>
          <a:xfrm>
            <a:off x="1920240" y="1371600"/>
            <a:ext cx="2225040" cy="502920"/>
          </a:xfrm>
          <a:prstGeom prst="rect">
            <a:avLst/>
          </a:prstGeom>
          <a:solidFill>
            <a:srgbClr val="1E2761"/>
          </a:solidFill>
          <a:ln/>
        </p:spPr>
      </p:sp>
      <p:sp>
        <p:nvSpPr>
          <p:cNvPr id="8" name="Text 6"/>
          <p:cNvSpPr/>
          <p:nvPr/>
        </p:nvSpPr>
        <p:spPr>
          <a:xfrm>
            <a:off x="2011680" y="1371600"/>
            <a:ext cx="2042160" cy="502920"/>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Calibri" pitchFamily="34" charset="0"/>
                <a:ea typeface="Calibri" pitchFamily="34" charset="-122"/>
                <a:cs typeface="Calibri" pitchFamily="34" charset="-120"/>
              </a:rPr>
              <a:t>案A：検証環境から</a:t>
            </a:r>
            <a:endParaRPr lang="en-US" sz="900" dirty="0"/>
          </a:p>
          <a:p>
            <a:pPr algn="ctr" indent="0" marL="0">
              <a:lnSpc>
                <a:spcPct val="115000"/>
              </a:lnSpc>
              <a:buNone/>
            </a:pPr>
            <a:r>
              <a:rPr lang="en-US" sz="900" b="1" dirty="0">
                <a:solidFill>
                  <a:srgbClr val="FFFFFF"/>
                </a:solidFill>
                <a:latin typeface="Calibri" pitchFamily="34" charset="0"/>
                <a:ea typeface="Calibri" pitchFamily="34" charset="-122"/>
                <a:cs typeface="Calibri" pitchFamily="34" charset="-120"/>
              </a:rPr>
              <a:t>本番MCMへ一時接続</a:t>
            </a:r>
            <a:endParaRPr lang="en-US" sz="900" dirty="0"/>
          </a:p>
        </p:txBody>
      </p:sp>
      <p:sp>
        <p:nvSpPr>
          <p:cNvPr id="9" name="Shape 7"/>
          <p:cNvSpPr/>
          <p:nvPr/>
        </p:nvSpPr>
        <p:spPr>
          <a:xfrm>
            <a:off x="4145280" y="1371600"/>
            <a:ext cx="2225040" cy="502920"/>
          </a:xfrm>
          <a:prstGeom prst="rect">
            <a:avLst/>
          </a:prstGeom>
          <a:solidFill>
            <a:srgbClr val="1E2761"/>
          </a:solidFill>
          <a:ln/>
        </p:spPr>
      </p:sp>
      <p:sp>
        <p:nvSpPr>
          <p:cNvPr id="10" name="Text 8"/>
          <p:cNvSpPr/>
          <p:nvPr/>
        </p:nvSpPr>
        <p:spPr>
          <a:xfrm>
            <a:off x="4236720" y="1371600"/>
            <a:ext cx="2042160" cy="502920"/>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Calibri" pitchFamily="34" charset="0"/>
                <a:ea typeface="Calibri" pitchFamily="34" charset="-122"/>
                <a:cs typeface="Calibri" pitchFamily="34" charset="-120"/>
              </a:rPr>
              <a:t>案B：検証MCMに</a:t>
            </a:r>
            <a:endParaRPr lang="en-US" sz="900" dirty="0"/>
          </a:p>
          <a:p>
            <a:pPr algn="ctr" indent="0" marL="0">
              <a:lnSpc>
                <a:spcPct val="115000"/>
              </a:lnSpc>
              <a:buNone/>
            </a:pPr>
            <a:r>
              <a:rPr lang="en-US" sz="900" b="1" dirty="0">
                <a:solidFill>
                  <a:srgbClr val="FFFFFF"/>
                </a:solidFill>
                <a:latin typeface="Calibri" pitchFamily="34" charset="0"/>
                <a:ea typeface="Calibri" pitchFamily="34" charset="-122"/>
                <a:cs typeface="Calibri" pitchFamily="34" charset="-120"/>
              </a:rPr>
              <a:t>同一CIを作成し再現</a:t>
            </a:r>
            <a:endParaRPr lang="en-US" sz="900" dirty="0"/>
          </a:p>
        </p:txBody>
      </p:sp>
      <p:sp>
        <p:nvSpPr>
          <p:cNvPr id="11" name="Shape 9"/>
          <p:cNvSpPr/>
          <p:nvPr/>
        </p:nvSpPr>
        <p:spPr>
          <a:xfrm>
            <a:off x="6370320" y="1371600"/>
            <a:ext cx="2225040" cy="502920"/>
          </a:xfrm>
          <a:prstGeom prst="rect">
            <a:avLst/>
          </a:prstGeom>
          <a:solidFill>
            <a:srgbClr val="1E2761"/>
          </a:solidFill>
          <a:ln/>
        </p:spPr>
      </p:sp>
      <p:sp>
        <p:nvSpPr>
          <p:cNvPr id="12" name="Text 10"/>
          <p:cNvSpPr/>
          <p:nvPr/>
        </p:nvSpPr>
        <p:spPr>
          <a:xfrm>
            <a:off x="6461760" y="1371600"/>
            <a:ext cx="2042160" cy="502920"/>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Calibri" pitchFamily="34" charset="0"/>
                <a:ea typeface="Calibri" pitchFamily="34" charset="-122"/>
                <a:cs typeface="Calibri" pitchFamily="34" charset="-120"/>
              </a:rPr>
              <a:t>案C：検証スキップ</a:t>
            </a:r>
            <a:endParaRPr lang="en-US" sz="900" dirty="0"/>
          </a:p>
          <a:p>
            <a:pPr algn="ctr" indent="0" marL="0">
              <a:lnSpc>
                <a:spcPct val="115000"/>
              </a:lnSpc>
              <a:buNone/>
            </a:pPr>
            <a:r>
              <a:rPr lang="en-US" sz="900" b="1" dirty="0">
                <a:solidFill>
                  <a:srgbClr val="FFFFFF"/>
                </a:solidFill>
                <a:latin typeface="Calibri" pitchFamily="34" charset="0"/>
                <a:ea typeface="Calibri" pitchFamily="34" charset="-122"/>
                <a:cs typeface="Calibri" pitchFamily="34" charset="-120"/>
              </a:rPr>
              <a:t>本番直接対応</a:t>
            </a:r>
            <a:endParaRPr lang="en-US" sz="900" dirty="0"/>
          </a:p>
        </p:txBody>
      </p:sp>
      <p:sp>
        <p:nvSpPr>
          <p:cNvPr id="13" name="Shape 11"/>
          <p:cNvSpPr/>
          <p:nvPr/>
        </p:nvSpPr>
        <p:spPr>
          <a:xfrm>
            <a:off x="548640" y="1874520"/>
            <a:ext cx="1371600" cy="658368"/>
          </a:xfrm>
          <a:prstGeom prst="rect">
            <a:avLst/>
          </a:prstGeom>
          <a:solidFill>
            <a:srgbClr val="1E2761"/>
          </a:solidFill>
          <a:ln/>
        </p:spPr>
      </p:sp>
      <p:sp>
        <p:nvSpPr>
          <p:cNvPr id="14" name="Text 12"/>
          <p:cNvSpPr/>
          <p:nvPr/>
        </p:nvSpPr>
        <p:spPr>
          <a:xfrm>
            <a:off x="640080" y="1874520"/>
            <a:ext cx="1188720" cy="658368"/>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Calibri" pitchFamily="34" charset="0"/>
                <a:ea typeface="Calibri" pitchFamily="34" charset="-122"/>
                <a:cs typeface="Calibri" pitchFamily="34" charset="-120"/>
              </a:rPr>
              <a:t>概要</a:t>
            </a:r>
            <a:endParaRPr lang="en-US" sz="900" dirty="0"/>
          </a:p>
        </p:txBody>
      </p:sp>
      <p:sp>
        <p:nvSpPr>
          <p:cNvPr id="15" name="Shape 13"/>
          <p:cNvSpPr/>
          <p:nvPr/>
        </p:nvSpPr>
        <p:spPr>
          <a:xfrm>
            <a:off x="1920240" y="1874520"/>
            <a:ext cx="2225040" cy="658368"/>
          </a:xfrm>
          <a:prstGeom prst="rect">
            <a:avLst/>
          </a:prstGeom>
          <a:solidFill>
            <a:srgbClr val="F0F2F8"/>
          </a:solidFill>
          <a:ln/>
        </p:spPr>
      </p:sp>
      <p:sp>
        <p:nvSpPr>
          <p:cNvPr id="16" name="Text 14"/>
          <p:cNvSpPr/>
          <p:nvPr/>
        </p:nvSpPr>
        <p:spPr>
          <a:xfrm>
            <a:off x="2011680" y="1874520"/>
            <a:ext cx="2042160" cy="658368"/>
          </a:xfrm>
          <a:prstGeom prst="rect">
            <a:avLst/>
          </a:prstGeom>
          <a:noFill/>
          <a:ln/>
        </p:spPr>
        <p:txBody>
          <a:bodyPr wrap="square" lIns="0" tIns="0" rIns="0" bIns="0" rtlCol="0" anchor="ctr"/>
          <a:lstStyle/>
          <a:p>
            <a:pPr indent="0" marL="0">
              <a:lnSpc>
                <a:spcPct val="115000"/>
              </a:lnSpc>
              <a:buNone/>
            </a:pPr>
            <a:r>
              <a:rPr lang="en-US" sz="850" dirty="0">
                <a:solidFill>
                  <a:srgbClr val="2D3748"/>
                </a:solidFill>
                <a:latin typeface="Calibri" pitchFamily="34" charset="0"/>
                <a:ea typeface="Calibri" pitchFamily="34" charset="-122"/>
                <a:cs typeface="Calibri" pitchFamily="34" charset="-120"/>
              </a:rPr>
              <a:t>当方検証インスタンスから本番MCM（it_prod / ot_prodE）に一時接続しデータ取得・検証を実施</a:t>
            </a:r>
            <a:endParaRPr lang="en-US" sz="850" dirty="0"/>
          </a:p>
        </p:txBody>
      </p:sp>
      <p:sp>
        <p:nvSpPr>
          <p:cNvPr id="17" name="Shape 15"/>
          <p:cNvSpPr/>
          <p:nvPr/>
        </p:nvSpPr>
        <p:spPr>
          <a:xfrm>
            <a:off x="4145280" y="1874520"/>
            <a:ext cx="2225040" cy="658368"/>
          </a:xfrm>
          <a:prstGeom prst="rect">
            <a:avLst/>
          </a:prstGeom>
          <a:solidFill>
            <a:srgbClr val="F0F2F8"/>
          </a:solidFill>
          <a:ln/>
        </p:spPr>
      </p:sp>
      <p:sp>
        <p:nvSpPr>
          <p:cNvPr id="18" name="Text 16"/>
          <p:cNvSpPr/>
          <p:nvPr/>
        </p:nvSpPr>
        <p:spPr>
          <a:xfrm>
            <a:off x="4236720" y="1874520"/>
            <a:ext cx="2042160" cy="658368"/>
          </a:xfrm>
          <a:prstGeom prst="rect">
            <a:avLst/>
          </a:prstGeom>
          <a:noFill/>
          <a:ln/>
        </p:spPr>
        <p:txBody>
          <a:bodyPr wrap="square" lIns="0" tIns="0" rIns="0" bIns="0" rtlCol="0" anchor="ctr"/>
          <a:lstStyle/>
          <a:p>
            <a:pPr indent="0" marL="0">
              <a:lnSpc>
                <a:spcPct val="115000"/>
              </a:lnSpc>
              <a:buNone/>
            </a:pPr>
            <a:r>
              <a:rPr lang="en-US" sz="850" dirty="0">
                <a:solidFill>
                  <a:srgbClr val="2D3748"/>
                </a:solidFill>
                <a:latin typeface="Calibri" pitchFamily="34" charset="0"/>
                <a:ea typeface="Calibri" pitchFamily="34" charset="-122"/>
                <a:cs typeface="Calibri" pitchFamily="34" charset="-120"/>
              </a:rPr>
              <a:t>お客様側の検証MCMにて、同一Resource IDを持つCIを放送系・一般系で作成いただき事象を再現</a:t>
            </a:r>
            <a:endParaRPr lang="en-US" sz="850" dirty="0"/>
          </a:p>
        </p:txBody>
      </p:sp>
      <p:sp>
        <p:nvSpPr>
          <p:cNvPr id="19" name="Shape 17"/>
          <p:cNvSpPr/>
          <p:nvPr/>
        </p:nvSpPr>
        <p:spPr>
          <a:xfrm>
            <a:off x="6370320" y="1874520"/>
            <a:ext cx="2225040" cy="658368"/>
          </a:xfrm>
          <a:prstGeom prst="rect">
            <a:avLst/>
          </a:prstGeom>
          <a:solidFill>
            <a:srgbClr val="F0F2F8"/>
          </a:solidFill>
          <a:ln/>
        </p:spPr>
      </p:sp>
      <p:sp>
        <p:nvSpPr>
          <p:cNvPr id="20" name="Text 18"/>
          <p:cNvSpPr/>
          <p:nvPr/>
        </p:nvSpPr>
        <p:spPr>
          <a:xfrm>
            <a:off x="6461760" y="1874520"/>
            <a:ext cx="2042160" cy="658368"/>
          </a:xfrm>
          <a:prstGeom prst="rect">
            <a:avLst/>
          </a:prstGeom>
          <a:noFill/>
          <a:ln/>
        </p:spPr>
        <p:txBody>
          <a:bodyPr wrap="square" lIns="0" tIns="0" rIns="0" bIns="0" rtlCol="0" anchor="ctr"/>
          <a:lstStyle/>
          <a:p>
            <a:pPr indent="0" marL="0">
              <a:lnSpc>
                <a:spcPct val="115000"/>
              </a:lnSpc>
              <a:buNone/>
            </a:pPr>
            <a:r>
              <a:rPr lang="en-US" sz="850" dirty="0">
                <a:solidFill>
                  <a:srgbClr val="2D3748"/>
                </a:solidFill>
                <a:latin typeface="Calibri" pitchFamily="34" charset="0"/>
                <a:ea typeface="Calibri" pitchFamily="34" charset="-122"/>
                <a:cs typeface="Calibri" pitchFamily="34" charset="-120"/>
              </a:rPr>
              <a:t>検証環境での事前確認を行わず、本番環境でData Source修正および動作確認を直接実施</a:t>
            </a:r>
            <a:endParaRPr lang="en-US" sz="850" dirty="0"/>
          </a:p>
        </p:txBody>
      </p:sp>
      <p:sp>
        <p:nvSpPr>
          <p:cNvPr id="21" name="Shape 19"/>
          <p:cNvSpPr/>
          <p:nvPr/>
        </p:nvSpPr>
        <p:spPr>
          <a:xfrm>
            <a:off x="548640" y="2532888"/>
            <a:ext cx="1371600" cy="384048"/>
          </a:xfrm>
          <a:prstGeom prst="rect">
            <a:avLst/>
          </a:prstGeom>
          <a:solidFill>
            <a:srgbClr val="1E2761"/>
          </a:solidFill>
          <a:ln/>
        </p:spPr>
      </p:sp>
      <p:sp>
        <p:nvSpPr>
          <p:cNvPr id="22" name="Text 20"/>
          <p:cNvSpPr/>
          <p:nvPr/>
        </p:nvSpPr>
        <p:spPr>
          <a:xfrm>
            <a:off x="640080" y="2532888"/>
            <a:ext cx="1188720" cy="384048"/>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Calibri" pitchFamily="34" charset="0"/>
                <a:ea typeface="Calibri" pitchFamily="34" charset="-122"/>
                <a:cs typeface="Calibri" pitchFamily="34" charset="-120"/>
              </a:rPr>
              <a:t>事象再現</a:t>
            </a:r>
            <a:endParaRPr lang="en-US" sz="900" dirty="0"/>
          </a:p>
          <a:p>
            <a:pPr algn="ctr" indent="0" marL="0">
              <a:lnSpc>
                <a:spcPct val="115000"/>
              </a:lnSpc>
              <a:buNone/>
            </a:pPr>
            <a:r>
              <a:rPr lang="en-US" sz="900" b="1" dirty="0">
                <a:solidFill>
                  <a:srgbClr val="FFFFFF"/>
                </a:solidFill>
                <a:latin typeface="Calibri" pitchFamily="34" charset="0"/>
                <a:ea typeface="Calibri" pitchFamily="34" charset="-122"/>
                <a:cs typeface="Calibri" pitchFamily="34" charset="-120"/>
              </a:rPr>
              <a:t>事前検証</a:t>
            </a:r>
            <a:endParaRPr lang="en-US" sz="900" dirty="0"/>
          </a:p>
        </p:txBody>
      </p:sp>
      <p:sp>
        <p:nvSpPr>
          <p:cNvPr id="23" name="Shape 21"/>
          <p:cNvSpPr/>
          <p:nvPr/>
        </p:nvSpPr>
        <p:spPr>
          <a:xfrm>
            <a:off x="1920240" y="2532888"/>
            <a:ext cx="2225040" cy="384048"/>
          </a:xfrm>
          <a:prstGeom prst="rect">
            <a:avLst/>
          </a:prstGeom>
          <a:solidFill>
            <a:srgbClr val="FFFFFF"/>
          </a:solidFill>
          <a:ln/>
        </p:spPr>
      </p:sp>
      <p:sp>
        <p:nvSpPr>
          <p:cNvPr id="24" name="Text 22"/>
          <p:cNvSpPr/>
          <p:nvPr/>
        </p:nvSpPr>
        <p:spPr>
          <a:xfrm>
            <a:off x="2011680" y="2532888"/>
            <a:ext cx="2042160" cy="384048"/>
          </a:xfrm>
          <a:prstGeom prst="rect">
            <a:avLst/>
          </a:prstGeom>
          <a:noFill/>
          <a:ln/>
        </p:spPr>
        <p:txBody>
          <a:bodyPr wrap="square" lIns="0" tIns="0" rIns="0" bIns="0" rtlCol="0" anchor="ctr"/>
          <a:lstStyle/>
          <a:p>
            <a:pPr indent="0" marL="0">
              <a:lnSpc>
                <a:spcPct val="115000"/>
              </a:lnSpc>
              <a:buNone/>
            </a:pPr>
            <a:r>
              <a:rPr lang="en-US" sz="850" b="1" dirty="0">
                <a:solidFill>
                  <a:srgbClr val="16A34A"/>
                </a:solidFill>
                <a:latin typeface="Calibri" pitchFamily="34" charset="0"/>
                <a:ea typeface="Calibri" pitchFamily="34" charset="-122"/>
                <a:cs typeface="Calibri" pitchFamily="34" charset="-120"/>
              </a:rPr>
              <a:t>◎ 本番同等データで検証可能</a:t>
            </a:r>
            <a:endParaRPr lang="en-US" sz="850" dirty="0"/>
          </a:p>
        </p:txBody>
      </p:sp>
      <p:sp>
        <p:nvSpPr>
          <p:cNvPr id="25" name="Shape 23"/>
          <p:cNvSpPr/>
          <p:nvPr/>
        </p:nvSpPr>
        <p:spPr>
          <a:xfrm>
            <a:off x="4145280" y="2532888"/>
            <a:ext cx="2225040" cy="384048"/>
          </a:xfrm>
          <a:prstGeom prst="rect">
            <a:avLst/>
          </a:prstGeom>
          <a:solidFill>
            <a:srgbClr val="FFFFFF"/>
          </a:solidFill>
          <a:ln/>
        </p:spPr>
      </p:sp>
      <p:sp>
        <p:nvSpPr>
          <p:cNvPr id="26" name="Text 24"/>
          <p:cNvSpPr/>
          <p:nvPr/>
        </p:nvSpPr>
        <p:spPr>
          <a:xfrm>
            <a:off x="4236720" y="2532888"/>
            <a:ext cx="2042160" cy="384048"/>
          </a:xfrm>
          <a:prstGeom prst="rect">
            <a:avLst/>
          </a:prstGeom>
          <a:noFill/>
          <a:ln/>
        </p:spPr>
        <p:txBody>
          <a:bodyPr wrap="square" lIns="0" tIns="0" rIns="0" bIns="0" rtlCol="0" anchor="ctr"/>
          <a:lstStyle/>
          <a:p>
            <a:pPr indent="0" marL="0">
              <a:lnSpc>
                <a:spcPct val="115000"/>
              </a:lnSpc>
              <a:buNone/>
            </a:pPr>
            <a:r>
              <a:rPr lang="en-US" sz="850" b="1" dirty="0">
                <a:solidFill>
                  <a:srgbClr val="EA580C"/>
                </a:solidFill>
                <a:latin typeface="Calibri" pitchFamily="34" charset="0"/>
                <a:ea typeface="Calibri" pitchFamily="34" charset="-122"/>
                <a:cs typeface="Calibri" pitchFamily="34" charset="-120"/>
              </a:rPr>
              <a:t>△ 再現可能だが、お客様側の作業工数が発生</a:t>
            </a:r>
            <a:endParaRPr lang="en-US" sz="850" dirty="0"/>
          </a:p>
        </p:txBody>
      </p:sp>
      <p:sp>
        <p:nvSpPr>
          <p:cNvPr id="27" name="Shape 25"/>
          <p:cNvSpPr/>
          <p:nvPr/>
        </p:nvSpPr>
        <p:spPr>
          <a:xfrm>
            <a:off x="6370320" y="2532888"/>
            <a:ext cx="2225040" cy="384048"/>
          </a:xfrm>
          <a:prstGeom prst="rect">
            <a:avLst/>
          </a:prstGeom>
          <a:solidFill>
            <a:srgbClr val="FFFFFF"/>
          </a:solidFill>
          <a:ln/>
        </p:spPr>
      </p:sp>
      <p:sp>
        <p:nvSpPr>
          <p:cNvPr id="28" name="Text 26"/>
          <p:cNvSpPr/>
          <p:nvPr/>
        </p:nvSpPr>
        <p:spPr>
          <a:xfrm>
            <a:off x="6461760" y="2532888"/>
            <a:ext cx="2042160" cy="384048"/>
          </a:xfrm>
          <a:prstGeom prst="rect">
            <a:avLst/>
          </a:prstGeom>
          <a:noFill/>
          <a:ln/>
        </p:spPr>
        <p:txBody>
          <a:bodyPr wrap="square" lIns="0" tIns="0" rIns="0" bIns="0" rtlCol="0" anchor="ctr"/>
          <a:lstStyle/>
          <a:p>
            <a:pPr indent="0" marL="0">
              <a:lnSpc>
                <a:spcPct val="115000"/>
              </a:lnSpc>
              <a:buNone/>
            </a:pPr>
            <a:r>
              <a:rPr lang="en-US" sz="850" b="1" dirty="0">
                <a:solidFill>
                  <a:srgbClr val="DC2626"/>
                </a:solidFill>
                <a:latin typeface="Calibri" pitchFamily="34" charset="0"/>
                <a:ea typeface="Calibri" pitchFamily="34" charset="-122"/>
                <a:cs typeface="Calibri" pitchFamily="34" charset="-120"/>
              </a:rPr>
              <a:t>× 不可</a:t>
            </a:r>
            <a:endParaRPr lang="en-US" sz="850" dirty="0"/>
          </a:p>
        </p:txBody>
      </p:sp>
      <p:sp>
        <p:nvSpPr>
          <p:cNvPr id="29" name="Shape 27"/>
          <p:cNvSpPr/>
          <p:nvPr/>
        </p:nvSpPr>
        <p:spPr>
          <a:xfrm>
            <a:off x="548640" y="2916936"/>
            <a:ext cx="1371600" cy="384048"/>
          </a:xfrm>
          <a:prstGeom prst="rect">
            <a:avLst/>
          </a:prstGeom>
          <a:solidFill>
            <a:srgbClr val="1E2761"/>
          </a:solidFill>
          <a:ln/>
        </p:spPr>
      </p:sp>
      <p:sp>
        <p:nvSpPr>
          <p:cNvPr id="30" name="Text 28"/>
          <p:cNvSpPr/>
          <p:nvPr/>
        </p:nvSpPr>
        <p:spPr>
          <a:xfrm>
            <a:off x="640080" y="2916936"/>
            <a:ext cx="1188720" cy="384048"/>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Calibri" pitchFamily="34" charset="0"/>
                <a:ea typeface="Calibri" pitchFamily="34" charset="-122"/>
                <a:cs typeface="Calibri" pitchFamily="34" charset="-120"/>
              </a:rPr>
              <a:t>本番への</a:t>
            </a:r>
            <a:endParaRPr lang="en-US" sz="900" dirty="0"/>
          </a:p>
          <a:p>
            <a:pPr algn="ctr" indent="0" marL="0">
              <a:lnSpc>
                <a:spcPct val="115000"/>
              </a:lnSpc>
              <a:buNone/>
            </a:pPr>
            <a:r>
              <a:rPr lang="en-US" sz="900" b="1" dirty="0">
                <a:solidFill>
                  <a:srgbClr val="FFFFFF"/>
                </a:solidFill>
                <a:latin typeface="Calibri" pitchFamily="34" charset="0"/>
                <a:ea typeface="Calibri" pitchFamily="34" charset="-122"/>
                <a:cs typeface="Calibri" pitchFamily="34" charset="-120"/>
              </a:rPr>
              <a:t>影響リスク</a:t>
            </a:r>
            <a:endParaRPr lang="en-US" sz="900" dirty="0"/>
          </a:p>
        </p:txBody>
      </p:sp>
      <p:sp>
        <p:nvSpPr>
          <p:cNvPr id="31" name="Shape 29"/>
          <p:cNvSpPr/>
          <p:nvPr/>
        </p:nvSpPr>
        <p:spPr>
          <a:xfrm>
            <a:off x="1920240" y="2916936"/>
            <a:ext cx="2225040" cy="384048"/>
          </a:xfrm>
          <a:prstGeom prst="rect">
            <a:avLst/>
          </a:prstGeom>
          <a:solidFill>
            <a:srgbClr val="F0F2F8"/>
          </a:solidFill>
          <a:ln/>
        </p:spPr>
      </p:sp>
      <p:sp>
        <p:nvSpPr>
          <p:cNvPr id="32" name="Text 30"/>
          <p:cNvSpPr/>
          <p:nvPr/>
        </p:nvSpPr>
        <p:spPr>
          <a:xfrm>
            <a:off x="2011680" y="2916936"/>
            <a:ext cx="2042160" cy="384048"/>
          </a:xfrm>
          <a:prstGeom prst="rect">
            <a:avLst/>
          </a:prstGeom>
          <a:noFill/>
          <a:ln/>
        </p:spPr>
        <p:txBody>
          <a:bodyPr wrap="square" lIns="0" tIns="0" rIns="0" bIns="0" rtlCol="0" anchor="ctr"/>
          <a:lstStyle/>
          <a:p>
            <a:pPr indent="0" marL="0">
              <a:lnSpc>
                <a:spcPct val="115000"/>
              </a:lnSpc>
              <a:buNone/>
            </a:pPr>
            <a:r>
              <a:rPr lang="en-US" sz="850" b="1" dirty="0">
                <a:solidFill>
                  <a:srgbClr val="16A34A"/>
                </a:solidFill>
                <a:latin typeface="Calibri" pitchFamily="34" charset="0"/>
                <a:ea typeface="Calibri" pitchFamily="34" charset="-122"/>
                <a:cs typeface="Calibri" pitchFamily="34" charset="-120"/>
              </a:rPr>
              <a:t>低</a:t>
            </a:r>
            <a:endParaRPr lang="en-US" sz="850" dirty="0"/>
          </a:p>
        </p:txBody>
      </p:sp>
      <p:sp>
        <p:nvSpPr>
          <p:cNvPr id="33" name="Shape 31"/>
          <p:cNvSpPr/>
          <p:nvPr/>
        </p:nvSpPr>
        <p:spPr>
          <a:xfrm>
            <a:off x="4145280" y="2916936"/>
            <a:ext cx="2225040" cy="384048"/>
          </a:xfrm>
          <a:prstGeom prst="rect">
            <a:avLst/>
          </a:prstGeom>
          <a:solidFill>
            <a:srgbClr val="F0F2F8"/>
          </a:solidFill>
          <a:ln/>
        </p:spPr>
      </p:sp>
      <p:sp>
        <p:nvSpPr>
          <p:cNvPr id="34" name="Text 32"/>
          <p:cNvSpPr/>
          <p:nvPr/>
        </p:nvSpPr>
        <p:spPr>
          <a:xfrm>
            <a:off x="4236720" y="2916936"/>
            <a:ext cx="2042160" cy="384048"/>
          </a:xfrm>
          <a:prstGeom prst="rect">
            <a:avLst/>
          </a:prstGeom>
          <a:noFill/>
          <a:ln/>
        </p:spPr>
        <p:txBody>
          <a:bodyPr wrap="square" lIns="0" tIns="0" rIns="0" bIns="0" rtlCol="0" anchor="ctr"/>
          <a:lstStyle/>
          <a:p>
            <a:pPr indent="0" marL="0">
              <a:lnSpc>
                <a:spcPct val="115000"/>
              </a:lnSpc>
              <a:buNone/>
            </a:pPr>
            <a:r>
              <a:rPr lang="en-US" sz="850" b="1" dirty="0">
                <a:solidFill>
                  <a:srgbClr val="16A34A"/>
                </a:solidFill>
                <a:latin typeface="Calibri" pitchFamily="34" charset="0"/>
                <a:ea typeface="Calibri" pitchFamily="34" charset="-122"/>
                <a:cs typeface="Calibri" pitchFamily="34" charset="-120"/>
              </a:rPr>
              <a:t>低</a:t>
            </a:r>
            <a:endParaRPr lang="en-US" sz="850" dirty="0"/>
          </a:p>
        </p:txBody>
      </p:sp>
      <p:sp>
        <p:nvSpPr>
          <p:cNvPr id="35" name="Shape 33"/>
          <p:cNvSpPr/>
          <p:nvPr/>
        </p:nvSpPr>
        <p:spPr>
          <a:xfrm>
            <a:off x="6370320" y="2916936"/>
            <a:ext cx="2225040" cy="384048"/>
          </a:xfrm>
          <a:prstGeom prst="rect">
            <a:avLst/>
          </a:prstGeom>
          <a:solidFill>
            <a:srgbClr val="F0F2F8"/>
          </a:solidFill>
          <a:ln/>
        </p:spPr>
      </p:sp>
      <p:sp>
        <p:nvSpPr>
          <p:cNvPr id="36" name="Text 34"/>
          <p:cNvSpPr/>
          <p:nvPr/>
        </p:nvSpPr>
        <p:spPr>
          <a:xfrm>
            <a:off x="6461760" y="2916936"/>
            <a:ext cx="2042160" cy="384048"/>
          </a:xfrm>
          <a:prstGeom prst="rect">
            <a:avLst/>
          </a:prstGeom>
          <a:noFill/>
          <a:ln/>
        </p:spPr>
        <p:txBody>
          <a:bodyPr wrap="square" lIns="0" tIns="0" rIns="0" bIns="0" rtlCol="0" anchor="ctr"/>
          <a:lstStyle/>
          <a:p>
            <a:pPr indent="0" marL="0">
              <a:lnSpc>
                <a:spcPct val="115000"/>
              </a:lnSpc>
              <a:buNone/>
            </a:pPr>
            <a:r>
              <a:rPr lang="en-US" sz="850" b="1" dirty="0">
                <a:solidFill>
                  <a:srgbClr val="DC2626"/>
                </a:solidFill>
                <a:latin typeface="Calibri" pitchFamily="34" charset="0"/>
                <a:ea typeface="Calibri" pitchFamily="34" charset="-122"/>
                <a:cs typeface="Calibri" pitchFamily="34" charset="-120"/>
              </a:rPr>
              <a:t>高（ぶっつけ対応）</a:t>
            </a:r>
            <a:endParaRPr lang="en-US" sz="850" dirty="0"/>
          </a:p>
        </p:txBody>
      </p:sp>
      <p:sp>
        <p:nvSpPr>
          <p:cNvPr id="37" name="Shape 35"/>
          <p:cNvSpPr/>
          <p:nvPr/>
        </p:nvSpPr>
        <p:spPr>
          <a:xfrm>
            <a:off x="548640" y="1371600"/>
            <a:ext cx="8046720" cy="1929384"/>
          </a:xfrm>
          <a:prstGeom prst="rect">
            <a:avLst/>
          </a:prstGeom>
          <a:solidFill>
            <a:srgbClr val="FFFFFF">
              <a:alpha val="0"/>
            </a:srgbClr>
          </a:solidFill>
          <a:ln w="9525">
            <a:solidFill>
              <a:srgbClr val="CBD5E1"/>
            </a:solidFill>
            <a:prstDash val="solid"/>
          </a:ln>
        </p:spPr>
      </p:sp>
      <p:sp>
        <p:nvSpPr>
          <p:cNvPr id="38" name="Shape 36"/>
          <p:cNvSpPr/>
          <p:nvPr/>
        </p:nvSpPr>
        <p:spPr>
          <a:xfrm>
            <a:off x="548640" y="1874520"/>
            <a:ext cx="8046720" cy="0"/>
          </a:xfrm>
          <a:prstGeom prst="line">
            <a:avLst/>
          </a:prstGeom>
          <a:noFill/>
          <a:ln w="6350">
            <a:solidFill>
              <a:srgbClr val="CBD5E1"/>
            </a:solidFill>
            <a:prstDash val="solid"/>
          </a:ln>
        </p:spPr>
      </p:sp>
      <p:sp>
        <p:nvSpPr>
          <p:cNvPr id="39" name="Shape 37"/>
          <p:cNvSpPr/>
          <p:nvPr/>
        </p:nvSpPr>
        <p:spPr>
          <a:xfrm>
            <a:off x="548640" y="2532888"/>
            <a:ext cx="8046720" cy="0"/>
          </a:xfrm>
          <a:prstGeom prst="line">
            <a:avLst/>
          </a:prstGeom>
          <a:noFill/>
          <a:ln w="6350">
            <a:solidFill>
              <a:srgbClr val="CBD5E1"/>
            </a:solidFill>
            <a:prstDash val="solid"/>
          </a:ln>
        </p:spPr>
      </p:sp>
      <p:sp>
        <p:nvSpPr>
          <p:cNvPr id="40" name="Shape 38"/>
          <p:cNvSpPr/>
          <p:nvPr/>
        </p:nvSpPr>
        <p:spPr>
          <a:xfrm>
            <a:off x="548640" y="2916936"/>
            <a:ext cx="8046720" cy="0"/>
          </a:xfrm>
          <a:prstGeom prst="line">
            <a:avLst/>
          </a:prstGeom>
          <a:noFill/>
          <a:ln w="6350">
            <a:solidFill>
              <a:srgbClr val="CBD5E1"/>
            </a:solidFill>
            <a:prstDash val="solid"/>
          </a:ln>
        </p:spPr>
      </p:sp>
      <p:sp>
        <p:nvSpPr>
          <p:cNvPr id="41" name="Shape 39"/>
          <p:cNvSpPr/>
          <p:nvPr/>
        </p:nvSpPr>
        <p:spPr>
          <a:xfrm>
            <a:off x="1920240" y="1371600"/>
            <a:ext cx="0" cy="1929384"/>
          </a:xfrm>
          <a:prstGeom prst="line">
            <a:avLst/>
          </a:prstGeom>
          <a:noFill/>
          <a:ln w="6350">
            <a:solidFill>
              <a:srgbClr val="CBD5E1"/>
            </a:solidFill>
            <a:prstDash val="solid"/>
          </a:ln>
        </p:spPr>
      </p:sp>
      <p:sp>
        <p:nvSpPr>
          <p:cNvPr id="42" name="Shape 40"/>
          <p:cNvSpPr/>
          <p:nvPr/>
        </p:nvSpPr>
        <p:spPr>
          <a:xfrm>
            <a:off x="4145280" y="1371600"/>
            <a:ext cx="0" cy="1929384"/>
          </a:xfrm>
          <a:prstGeom prst="line">
            <a:avLst/>
          </a:prstGeom>
          <a:noFill/>
          <a:ln w="6350">
            <a:solidFill>
              <a:srgbClr val="CBD5E1"/>
            </a:solidFill>
            <a:prstDash val="solid"/>
          </a:ln>
        </p:spPr>
      </p:sp>
      <p:sp>
        <p:nvSpPr>
          <p:cNvPr id="43" name="Shape 41"/>
          <p:cNvSpPr/>
          <p:nvPr/>
        </p:nvSpPr>
        <p:spPr>
          <a:xfrm>
            <a:off x="6370320" y="1371600"/>
            <a:ext cx="0" cy="1929384"/>
          </a:xfrm>
          <a:prstGeom prst="line">
            <a:avLst/>
          </a:prstGeom>
          <a:noFill/>
          <a:ln w="6350">
            <a:solidFill>
              <a:srgbClr val="CBD5E1"/>
            </a:solidFill>
            <a:prstDash val="solid"/>
          </a:ln>
        </p:spPr>
      </p:sp>
      <p:sp>
        <p:nvSpPr>
          <p:cNvPr id="44" name="Shape 42"/>
          <p:cNvSpPr/>
          <p:nvPr/>
        </p:nvSpPr>
        <p:spPr>
          <a:xfrm>
            <a:off x="8595360" y="1371600"/>
            <a:ext cx="0" cy="1929384"/>
          </a:xfrm>
          <a:prstGeom prst="line">
            <a:avLst/>
          </a:prstGeom>
          <a:noFill/>
          <a:ln w="6350">
            <a:solidFill>
              <a:srgbClr val="CBD5E1"/>
            </a:solidFill>
            <a:prstDash val="solid"/>
          </a:ln>
        </p:spPr>
      </p:sp>
      <p:sp>
        <p:nvSpPr>
          <p:cNvPr id="45" name="Shape 43"/>
          <p:cNvSpPr/>
          <p:nvPr/>
        </p:nvSpPr>
        <p:spPr>
          <a:xfrm>
            <a:off x="548640" y="3483864"/>
            <a:ext cx="8046720" cy="384048"/>
          </a:xfrm>
          <a:prstGeom prst="rect">
            <a:avLst/>
          </a:prstGeom>
          <a:solidFill>
            <a:srgbClr val="DBEAFE"/>
          </a:solidFill>
          <a:ln/>
        </p:spPr>
      </p:sp>
      <p:sp>
        <p:nvSpPr>
          <p:cNvPr id="46" name="Shape 44"/>
          <p:cNvSpPr/>
          <p:nvPr/>
        </p:nvSpPr>
        <p:spPr>
          <a:xfrm>
            <a:off x="548640" y="3483864"/>
            <a:ext cx="54864" cy="384048"/>
          </a:xfrm>
          <a:prstGeom prst="rect">
            <a:avLst/>
          </a:prstGeom>
          <a:solidFill>
            <a:srgbClr val="3B82F6"/>
          </a:solidFill>
          <a:ln/>
        </p:spPr>
      </p:sp>
      <p:sp>
        <p:nvSpPr>
          <p:cNvPr id="47" name="Text 45"/>
          <p:cNvSpPr/>
          <p:nvPr/>
        </p:nvSpPr>
        <p:spPr>
          <a:xfrm>
            <a:off x="777240" y="3483864"/>
            <a:ext cx="7680960" cy="38404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推奨：案A</a:t>
            </a:r>
            <a:pPr indent="0" marL="0">
              <a:buNone/>
            </a:pPr>
            <a:r>
              <a:rPr lang="en-US" sz="1000" dirty="0">
                <a:solidFill>
                  <a:srgbClr val="1E2761"/>
                </a:solidFill>
                <a:latin typeface="Calibri" pitchFamily="34" charset="0"/>
                <a:ea typeface="Calibri" pitchFamily="34" charset="-122"/>
                <a:cs typeface="Calibri" pitchFamily="34" charset="-120"/>
              </a:rPr>
              <a:t>  — 本番同等のデータで検証でき、修正時のリスクを最小化できます。案Bはお客様側の作業工数が発生し、案Cは本番での即時復旧判断が困難です。</a:t>
            </a:r>
            <a:endParaRPr lang="en-US" sz="1000" dirty="0"/>
          </a:p>
        </p:txBody>
      </p:sp>
      <p:sp>
        <p:nvSpPr>
          <p:cNvPr id="48" name="Text 46"/>
          <p:cNvSpPr/>
          <p:nvPr/>
        </p:nvSpPr>
        <p:spPr>
          <a:xfrm>
            <a:off x="548640" y="3986784"/>
            <a:ext cx="4572000" cy="2560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ご判断いただきたい事項</a:t>
            </a:r>
            <a:endParaRPr lang="en-US" sz="1300" dirty="0"/>
          </a:p>
        </p:txBody>
      </p:sp>
      <p:sp>
        <p:nvSpPr>
          <p:cNvPr id="49" name="Shape 47"/>
          <p:cNvSpPr/>
          <p:nvPr/>
        </p:nvSpPr>
        <p:spPr>
          <a:xfrm>
            <a:off x="640080" y="4315968"/>
            <a:ext cx="164592" cy="164592"/>
          </a:xfrm>
          <a:prstGeom prst="ellipse">
            <a:avLst/>
          </a:prstGeom>
          <a:solidFill>
            <a:srgbClr val="3B82F6"/>
          </a:solidFill>
          <a:ln/>
        </p:spPr>
      </p:sp>
      <p:sp>
        <p:nvSpPr>
          <p:cNvPr id="50" name="Text 48"/>
          <p:cNvSpPr/>
          <p:nvPr/>
        </p:nvSpPr>
        <p:spPr>
          <a:xfrm>
            <a:off x="640080" y="4315968"/>
            <a:ext cx="164592"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1" name="Text 49"/>
          <p:cNvSpPr/>
          <p:nvPr/>
        </p:nvSpPr>
        <p:spPr>
          <a:xfrm>
            <a:off x="914400" y="4279392"/>
            <a:ext cx="7680960" cy="237744"/>
          </a:xfrm>
          <a:prstGeom prst="rect">
            <a:avLst/>
          </a:prstGeom>
          <a:noFill/>
          <a:ln/>
        </p:spPr>
        <p:txBody>
          <a:bodyPr wrap="square" lIns="0" tIns="0" rIns="0" bIns="0" rtlCol="0" anchor="ctr"/>
          <a:lstStyle/>
          <a:p>
            <a:pPr indent="0" marL="0">
              <a:buNone/>
            </a:pPr>
            <a:r>
              <a:rPr lang="en-US" sz="1050" dirty="0">
                <a:solidFill>
                  <a:srgbClr val="2D3748"/>
                </a:solidFill>
                <a:latin typeface="Calibri" pitchFamily="34" charset="0"/>
                <a:ea typeface="Calibri" pitchFamily="34" charset="-122"/>
                <a:cs typeface="Calibri" pitchFamily="34" charset="-120"/>
              </a:rPr>
              <a:t>案A / 案B / 案C のいずれで進めるか</a:t>
            </a:r>
            <a:endParaRPr lang="en-US" sz="1050" dirty="0"/>
          </a:p>
        </p:txBody>
      </p:sp>
      <p:sp>
        <p:nvSpPr>
          <p:cNvPr id="52" name="Shape 50"/>
          <p:cNvSpPr/>
          <p:nvPr/>
        </p:nvSpPr>
        <p:spPr>
          <a:xfrm>
            <a:off x="640080" y="4553712"/>
            <a:ext cx="164592" cy="164592"/>
          </a:xfrm>
          <a:prstGeom prst="ellipse">
            <a:avLst/>
          </a:prstGeom>
          <a:solidFill>
            <a:srgbClr val="3B82F6"/>
          </a:solidFill>
          <a:ln/>
        </p:spPr>
      </p:sp>
      <p:sp>
        <p:nvSpPr>
          <p:cNvPr id="53" name="Text 51"/>
          <p:cNvSpPr/>
          <p:nvPr/>
        </p:nvSpPr>
        <p:spPr>
          <a:xfrm>
            <a:off x="640080" y="4553712"/>
            <a:ext cx="164592"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54" name="Text 52"/>
          <p:cNvSpPr/>
          <p:nvPr/>
        </p:nvSpPr>
        <p:spPr>
          <a:xfrm>
            <a:off x="914400" y="4517136"/>
            <a:ext cx="7680960" cy="237744"/>
          </a:xfrm>
          <a:prstGeom prst="rect">
            <a:avLst/>
          </a:prstGeom>
          <a:noFill/>
          <a:ln/>
        </p:spPr>
        <p:txBody>
          <a:bodyPr wrap="square" lIns="0" tIns="0" rIns="0" bIns="0" rtlCol="0" anchor="ctr"/>
          <a:lstStyle/>
          <a:p>
            <a:pPr indent="0" marL="0">
              <a:buNone/>
            </a:pPr>
            <a:r>
              <a:rPr lang="en-US" sz="1050" dirty="0">
                <a:solidFill>
                  <a:srgbClr val="2D3748"/>
                </a:solidFill>
                <a:latin typeface="Calibri" pitchFamily="34" charset="0"/>
                <a:ea typeface="Calibri" pitchFamily="34" charset="-122"/>
                <a:cs typeface="Calibri" pitchFamily="34" charset="-120"/>
              </a:rPr>
              <a:t>案A の場合：検証環境から本番 MCM への一時接続をご許可いただけるか</a:t>
            </a:r>
            <a:endParaRPr lang="en-US" sz="1050" dirty="0"/>
          </a:p>
        </p:txBody>
      </p:sp>
      <p:sp>
        <p:nvSpPr>
          <p:cNvPr id="55" name="Shape 53"/>
          <p:cNvSpPr/>
          <p:nvPr/>
        </p:nvSpPr>
        <p:spPr>
          <a:xfrm>
            <a:off x="640080" y="4791456"/>
            <a:ext cx="164592" cy="164592"/>
          </a:xfrm>
          <a:prstGeom prst="ellipse">
            <a:avLst/>
          </a:prstGeom>
          <a:solidFill>
            <a:srgbClr val="3B82F6"/>
          </a:solidFill>
          <a:ln/>
        </p:spPr>
      </p:sp>
      <p:sp>
        <p:nvSpPr>
          <p:cNvPr id="56" name="Text 54"/>
          <p:cNvSpPr/>
          <p:nvPr/>
        </p:nvSpPr>
        <p:spPr>
          <a:xfrm>
            <a:off x="640080" y="4791456"/>
            <a:ext cx="164592" cy="16459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57" name="Text 55"/>
          <p:cNvSpPr/>
          <p:nvPr/>
        </p:nvSpPr>
        <p:spPr>
          <a:xfrm>
            <a:off x="914400" y="4754880"/>
            <a:ext cx="7680960" cy="237744"/>
          </a:xfrm>
          <a:prstGeom prst="rect">
            <a:avLst/>
          </a:prstGeom>
          <a:noFill/>
          <a:ln/>
        </p:spPr>
        <p:txBody>
          <a:bodyPr wrap="square" lIns="0" tIns="0" rIns="0" bIns="0" rtlCol="0" anchor="ctr"/>
          <a:lstStyle/>
          <a:p>
            <a:pPr indent="0" marL="0">
              <a:buNone/>
            </a:pPr>
            <a:r>
              <a:rPr lang="en-US" sz="1050" dirty="0">
                <a:solidFill>
                  <a:srgbClr val="2D3748"/>
                </a:solidFill>
                <a:latin typeface="Calibri" pitchFamily="34" charset="0"/>
                <a:ea typeface="Calibri" pitchFamily="34" charset="-122"/>
                <a:cs typeface="Calibri" pitchFamily="34" charset="-120"/>
              </a:rPr>
              <a:t>案B の場合：検証MCMでのテストデータ作成にご協力いただけるか</a:t>
            </a:r>
            <a:endParaRPr lang="en-US" sz="1050" dirty="0"/>
          </a:p>
        </p:txBody>
      </p:sp>
      <p:sp>
        <p:nvSpPr>
          <p:cNvPr id="58" name="Text 56"/>
          <p:cNvSpPr/>
          <p:nvPr/>
        </p:nvSpPr>
        <p:spPr>
          <a:xfrm>
            <a:off x="8229600" y="4754880"/>
            <a:ext cx="548640" cy="274320"/>
          </a:xfrm>
          <a:prstGeom prst="rect">
            <a:avLst/>
          </a:prstGeom>
          <a:noFill/>
          <a:ln/>
        </p:spPr>
        <p:txBody>
          <a:bodyPr wrap="square" lIns="0" tIns="0" rIns="0" bIns="0" rtlCol="0" anchor="ctr"/>
          <a:lstStyle/>
          <a:p>
            <a:pPr algn="r" indent="0" marL="0">
              <a:buNone/>
            </a:pPr>
            <a:r>
              <a:rPr lang="en-US" sz="900" dirty="0">
                <a:solidFill>
                  <a:srgbClr val="8B95A8"/>
                </a:solidFill>
                <a:latin typeface="Calibri" pitchFamily="34" charset="0"/>
                <a:ea typeface="Calibri" pitchFamily="34" charset="-122"/>
                <a:cs typeface="Calibri" pitchFamily="34" charset="-120"/>
              </a:rPr>
              <a:t>2 / 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SG-SCCM Data Source 修正に関するご相談</dc:title>
  <dc:subject>PptxGenJS Presentation</dc:subject>
  <dc:creator>SGC Team</dc:creator>
  <cp:lastModifiedBy>SGC Team</cp:lastModifiedBy>
  <cp:revision>1</cp:revision>
  <dcterms:created xsi:type="dcterms:W3CDTF">2026-04-21T04:20:38Z</dcterms:created>
  <dcterms:modified xsi:type="dcterms:W3CDTF">2026-04-21T04:20:38Z</dcterms:modified>
</cp:coreProperties>
</file>