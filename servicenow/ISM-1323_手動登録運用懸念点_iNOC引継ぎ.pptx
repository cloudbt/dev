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13A"/>
          </a:solidFill>
          <a:ln/>
        </p:spPr>
      </p:sp>
      <p:sp>
        <p:nvSpPr>
          <p:cNvPr id="3" name="Text 1"/>
          <p:cNvSpPr/>
          <p:nvPr/>
        </p:nvSpPr>
        <p:spPr>
          <a:xfrm>
            <a:off x="731520" y="1097280"/>
            <a:ext cx="7680960" cy="548640"/>
          </a:xfrm>
          <a:prstGeom prst="rect">
            <a:avLst/>
          </a:prstGeom>
          <a:noFill/>
          <a:ln/>
        </p:spPr>
        <p:txBody>
          <a:bodyPr wrap="square" rtlCol="0" anchor="ctr"/>
          <a:lstStyle/>
          <a:p>
            <a:pPr indent="0" marL="0">
              <a:buNone/>
            </a:pPr>
            <a:r>
              <a:rPr lang="en-US" sz="1600" b="1" dirty="0">
                <a:solidFill>
                  <a:srgbClr val="E8913A"/>
                </a:solidFill>
                <a:latin typeface="Meiryo" pitchFamily="34" charset="0"/>
                <a:ea typeface="Meiryo" pitchFamily="34" charset="-122"/>
                <a:cs typeface="Meiryo" pitchFamily="34" charset="-120"/>
              </a:rPr>
              <a:t>【ISM-1323】</a:t>
            </a:r>
            <a:endParaRPr lang="en-US" sz="1600" dirty="0"/>
          </a:p>
        </p:txBody>
      </p:sp>
      <p:sp>
        <p:nvSpPr>
          <p:cNvPr id="4" name="Text 2"/>
          <p:cNvSpPr/>
          <p:nvPr/>
        </p:nvSpPr>
        <p:spPr>
          <a:xfrm>
            <a:off x="731520" y="1645920"/>
            <a:ext cx="7680960" cy="1463040"/>
          </a:xfrm>
          <a:prstGeom prst="rect">
            <a:avLst/>
          </a:prstGeom>
          <a:noFill/>
          <a:ln/>
        </p:spPr>
        <p:txBody>
          <a:bodyPr wrap="square" rtlCol="0" anchor="ctr"/>
          <a:lstStyle/>
          <a:p>
            <a:pPr indent="0" marL="0">
              <a:lnSpc>
                <a:spcPct val="130000"/>
              </a:lnSpc>
              <a:buNone/>
            </a:pPr>
            <a:r>
              <a:rPr lang="en-US" sz="3000" b="1" dirty="0">
                <a:solidFill>
                  <a:srgbClr val="FFFFFF"/>
                </a:solidFill>
                <a:latin typeface="Meiryo" pitchFamily="34" charset="0"/>
                <a:ea typeface="Meiryo" pitchFamily="34" charset="-122"/>
                <a:cs typeface="Meiryo" pitchFamily="34" charset="-120"/>
              </a:rPr>
              <a:t>クラウドリソース手動登録時の</a:t>
            </a:r>
            <a:endParaRPr lang="en-US" sz="3000" dirty="0"/>
          </a:p>
          <a:p>
            <a:pPr indent="0" marL="0">
              <a:lnSpc>
                <a:spcPct val="130000"/>
              </a:lnSpc>
              <a:buNone/>
            </a:pPr>
            <a:r>
              <a:rPr lang="en-US" sz="3000" b="1" dirty="0">
                <a:solidFill>
                  <a:srgbClr val="FFFFFF"/>
                </a:solidFill>
                <a:latin typeface="Meiryo" pitchFamily="34" charset="0"/>
                <a:ea typeface="Meiryo" pitchFamily="34" charset="-122"/>
                <a:cs typeface="Meiryo" pitchFamily="34" charset="-120"/>
              </a:rPr>
              <a:t>ポータル申請における運用懸念点</a:t>
            </a:r>
            <a:endParaRPr lang="en-US" sz="3000" dirty="0"/>
          </a:p>
        </p:txBody>
      </p:sp>
      <p:sp>
        <p:nvSpPr>
          <p:cNvPr id="5" name="Text 3"/>
          <p:cNvSpPr/>
          <p:nvPr/>
        </p:nvSpPr>
        <p:spPr>
          <a:xfrm>
            <a:off x="731520" y="3200400"/>
            <a:ext cx="7680960" cy="457200"/>
          </a:xfrm>
          <a:prstGeom prst="rect">
            <a:avLst/>
          </a:prstGeom>
          <a:noFill/>
          <a:ln/>
        </p:spPr>
        <p:txBody>
          <a:bodyPr wrap="square" rtlCol="0" anchor="ctr"/>
          <a:lstStyle/>
          <a:p>
            <a:pPr indent="0" marL="0">
              <a:buNone/>
            </a:pPr>
            <a:r>
              <a:rPr lang="en-US" sz="1400" i="1" dirty="0">
                <a:solidFill>
                  <a:srgbClr val="5A6A7A"/>
                </a:solidFill>
                <a:latin typeface="Meiryo" pitchFamily="34" charset="0"/>
                <a:ea typeface="Meiryo" pitchFamily="34" charset="-122"/>
                <a:cs typeface="Meiryo" pitchFamily="34" charset="-120"/>
              </a:rPr>
              <a:t>― iNOC担当者向け引継ぎ資料 ―</a:t>
            </a:r>
            <a:endParaRPr lang="en-US" sz="1400" dirty="0"/>
          </a:p>
        </p:txBody>
      </p:sp>
      <p:sp>
        <p:nvSpPr>
          <p:cNvPr id="6" name="Shape 4"/>
          <p:cNvSpPr/>
          <p:nvPr/>
        </p:nvSpPr>
        <p:spPr>
          <a:xfrm>
            <a:off x="0" y="4754880"/>
            <a:ext cx="9144000" cy="388620"/>
          </a:xfrm>
          <a:prstGeom prst="rect">
            <a:avLst/>
          </a:prstGeom>
          <a:solidFill>
            <a:srgbClr val="2C4A7C"/>
          </a:solidFill>
          <a:ln/>
        </p:spPr>
      </p:sp>
      <p:sp>
        <p:nvSpPr>
          <p:cNvPr id="7" name="Text 5"/>
          <p:cNvSpPr/>
          <p:nvPr/>
        </p:nvSpPr>
        <p:spPr>
          <a:xfrm>
            <a:off x="731520" y="4754880"/>
            <a:ext cx="7680960" cy="388620"/>
          </a:xfrm>
          <a:prstGeom prst="rect">
            <a:avLst/>
          </a:prstGeom>
          <a:noFill/>
          <a:ln/>
        </p:spPr>
        <p:txBody>
          <a:bodyPr wrap="square" rtlCol="0" anchor="ctr"/>
          <a:lstStyle/>
          <a:p>
            <a:pPr indent="0" marL="0">
              <a:buNone/>
            </a:pPr>
            <a:r>
              <a:rPr lang="en-US" sz="1000" dirty="0">
                <a:solidFill>
                  <a:srgbClr val="8899AA"/>
                </a:solidFill>
                <a:latin typeface="Meiryo" pitchFamily="34" charset="0"/>
                <a:ea typeface="Meiryo" pitchFamily="34" charset="-122"/>
                <a:cs typeface="Meiryo" pitchFamily="34" charset="-120"/>
              </a:rPr>
              <a:t>Service Graph Connector for AWS/Azure 完全手動登録運用</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1B2A4A"/>
                </a:solidFill>
                <a:latin typeface="Meiryo" pitchFamily="34" charset="0"/>
                <a:ea typeface="Meiryo" pitchFamily="34" charset="-122"/>
                <a:cs typeface="Meiryo" pitchFamily="34" charset="-120"/>
              </a:rPr>
              <a:t>本資料の目的と懸念点カテゴリ</a:t>
            </a:r>
            <a:endParaRPr lang="en-US" sz="2400" dirty="0"/>
          </a:p>
        </p:txBody>
      </p:sp>
      <p:sp>
        <p:nvSpPr>
          <p:cNvPr id="3" name="Shape 1"/>
          <p:cNvSpPr/>
          <p:nvPr/>
        </p:nvSpPr>
        <p:spPr>
          <a:xfrm>
            <a:off x="548640" y="868680"/>
            <a:ext cx="1371600" cy="36576"/>
          </a:xfrm>
          <a:prstGeom prst="rect">
            <a:avLst/>
          </a:prstGeom>
          <a:solidFill>
            <a:srgbClr val="E8913A"/>
          </a:solidFill>
          <a:ln/>
        </p:spPr>
      </p:sp>
      <p:sp>
        <p:nvSpPr>
          <p:cNvPr id="4" name="Text 2"/>
          <p:cNvSpPr/>
          <p:nvPr/>
        </p:nvSpPr>
        <p:spPr>
          <a:xfrm>
            <a:off x="548640" y="1097280"/>
            <a:ext cx="8046720" cy="640080"/>
          </a:xfrm>
          <a:prstGeom prst="rect">
            <a:avLst/>
          </a:prstGeom>
          <a:noFill/>
          <a:ln/>
        </p:spPr>
        <p:txBody>
          <a:bodyPr wrap="square" rtlCol="0" anchor="ctr"/>
          <a:lstStyle/>
          <a:p>
            <a:pPr indent="0" marL="0">
              <a:lnSpc>
                <a:spcPct val="140000"/>
              </a:lnSpc>
              <a:buNone/>
            </a:pPr>
            <a:r>
              <a:rPr lang="en-US" sz="1200" dirty="0">
                <a:solidFill>
                  <a:srgbClr val="2D2D2D"/>
                </a:solidFill>
                <a:latin typeface="Meiryo" pitchFamily="34" charset="0"/>
                <a:ea typeface="Meiryo" pitchFamily="34" charset="-122"/>
                <a:cs typeface="Meiryo" pitchFamily="34" charset="-120"/>
              </a:rPr>
              <a:t>仮想マシン等のクラウドリソースをポータル画面でCI登録・更新申請により手動登録する際の運用上の懸念点を整理し、iNOC担当者へ引き継ぐことを目的とする。</a:t>
            </a:r>
            <a:endParaRPr lang="en-US" sz="1200" dirty="0"/>
          </a:p>
        </p:txBody>
      </p:sp>
      <p:sp>
        <p:nvSpPr>
          <p:cNvPr id="5" name="Shape 3"/>
          <p:cNvSpPr/>
          <p:nvPr/>
        </p:nvSpPr>
        <p:spPr>
          <a:xfrm>
            <a:off x="548640" y="2011680"/>
            <a:ext cx="8046720" cy="594360"/>
          </a:xfrm>
          <a:prstGeom prst="rect">
            <a:avLst/>
          </a:prstGeom>
          <a:solidFill>
            <a:srgbClr val="E8EEF6"/>
          </a:solidFill>
          <a:ln/>
        </p:spPr>
      </p:sp>
      <p:sp>
        <p:nvSpPr>
          <p:cNvPr id="6" name="Shape 4"/>
          <p:cNvSpPr/>
          <p:nvPr/>
        </p:nvSpPr>
        <p:spPr>
          <a:xfrm>
            <a:off x="548640" y="2011680"/>
            <a:ext cx="64008" cy="594360"/>
          </a:xfrm>
          <a:prstGeom prst="rect">
            <a:avLst/>
          </a:prstGeom>
          <a:solidFill>
            <a:srgbClr val="2C4A7C"/>
          </a:solidFill>
          <a:ln/>
        </p:spPr>
      </p:sp>
      <p:sp>
        <p:nvSpPr>
          <p:cNvPr id="7" name="Text 5"/>
          <p:cNvSpPr/>
          <p:nvPr/>
        </p:nvSpPr>
        <p:spPr>
          <a:xfrm>
            <a:off x="822960" y="2011680"/>
            <a:ext cx="3200400" cy="5943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A. 申請フロー・運用設計</a:t>
            </a:r>
            <a:endParaRPr lang="en-US" sz="1300" dirty="0"/>
          </a:p>
        </p:txBody>
      </p:sp>
      <p:sp>
        <p:nvSpPr>
          <p:cNvPr id="8" name="Text 6"/>
          <p:cNvSpPr/>
          <p:nvPr/>
        </p:nvSpPr>
        <p:spPr>
          <a:xfrm>
            <a:off x="4114800" y="2011680"/>
            <a:ext cx="4114800" cy="594360"/>
          </a:xfrm>
          <a:prstGeom prst="rect">
            <a:avLst/>
          </a:prstGeom>
          <a:noFill/>
          <a:ln/>
        </p:spPr>
        <p:txBody>
          <a:bodyPr wrap="square" lIns="0" tIns="0" rIns="0" bIns="0" rtlCol="0" anchor="ctr"/>
          <a:lstStyle/>
          <a:p>
            <a:pPr indent="0" marL="0">
              <a:buNone/>
            </a:pPr>
            <a:r>
              <a:rPr lang="en-US" sz="1100" dirty="0">
                <a:solidFill>
                  <a:srgbClr val="5A6A7A"/>
                </a:solidFill>
                <a:latin typeface="Meiryo" pitchFamily="34" charset="0"/>
                <a:ea typeface="Meiryo" pitchFamily="34" charset="-122"/>
                <a:cs typeface="Meiryo" pitchFamily="34" charset="-120"/>
              </a:rPr>
              <a:t>申請手順、ルール整備、担当者教育</a:t>
            </a:r>
            <a:endParaRPr lang="en-US" sz="1100" dirty="0"/>
          </a:p>
        </p:txBody>
      </p:sp>
      <p:sp>
        <p:nvSpPr>
          <p:cNvPr id="9" name="Shape 7"/>
          <p:cNvSpPr/>
          <p:nvPr/>
        </p:nvSpPr>
        <p:spPr>
          <a:xfrm>
            <a:off x="548640" y="2743200"/>
            <a:ext cx="8046720" cy="594360"/>
          </a:xfrm>
          <a:prstGeom prst="rect">
            <a:avLst/>
          </a:prstGeom>
          <a:solidFill>
            <a:srgbClr val="FDF2E5"/>
          </a:solidFill>
          <a:ln/>
        </p:spPr>
      </p:sp>
      <p:sp>
        <p:nvSpPr>
          <p:cNvPr id="10" name="Shape 8"/>
          <p:cNvSpPr/>
          <p:nvPr/>
        </p:nvSpPr>
        <p:spPr>
          <a:xfrm>
            <a:off x="548640" y="2743200"/>
            <a:ext cx="64008" cy="594360"/>
          </a:xfrm>
          <a:prstGeom prst="rect">
            <a:avLst/>
          </a:prstGeom>
          <a:solidFill>
            <a:srgbClr val="E8913A"/>
          </a:solidFill>
          <a:ln/>
        </p:spPr>
      </p:sp>
      <p:sp>
        <p:nvSpPr>
          <p:cNvPr id="11" name="Text 9"/>
          <p:cNvSpPr/>
          <p:nvPr/>
        </p:nvSpPr>
        <p:spPr>
          <a:xfrm>
            <a:off x="822960" y="2743200"/>
            <a:ext cx="3200400" cy="5943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B. データ品質・整合性</a:t>
            </a:r>
            <a:endParaRPr lang="en-US" sz="1300" dirty="0"/>
          </a:p>
        </p:txBody>
      </p:sp>
      <p:sp>
        <p:nvSpPr>
          <p:cNvPr id="12" name="Text 10"/>
          <p:cNvSpPr/>
          <p:nvPr/>
        </p:nvSpPr>
        <p:spPr>
          <a:xfrm>
            <a:off x="4114800" y="2743200"/>
            <a:ext cx="4114800" cy="594360"/>
          </a:xfrm>
          <a:prstGeom prst="rect">
            <a:avLst/>
          </a:prstGeom>
          <a:noFill/>
          <a:ln/>
        </p:spPr>
        <p:txBody>
          <a:bodyPr wrap="square" lIns="0" tIns="0" rIns="0" bIns="0" rtlCol="0" anchor="ctr"/>
          <a:lstStyle/>
          <a:p>
            <a:pPr indent="0" marL="0">
              <a:buNone/>
            </a:pPr>
            <a:r>
              <a:rPr lang="en-US" sz="1100" dirty="0">
                <a:solidFill>
                  <a:srgbClr val="5A6A7A"/>
                </a:solidFill>
                <a:latin typeface="Meiryo" pitchFamily="34" charset="0"/>
                <a:ea typeface="Meiryo" pitchFamily="34" charset="-122"/>
                <a:cs typeface="Meiryo" pitchFamily="34" charset="-120"/>
              </a:rPr>
              <a:t>属性情報の正確性、CI関係性、CMDB Health</a:t>
            </a:r>
            <a:endParaRPr lang="en-US" sz="1100" dirty="0"/>
          </a:p>
        </p:txBody>
      </p:sp>
      <p:sp>
        <p:nvSpPr>
          <p:cNvPr id="13" name="Shape 11"/>
          <p:cNvSpPr/>
          <p:nvPr/>
        </p:nvSpPr>
        <p:spPr>
          <a:xfrm>
            <a:off x="548640" y="3474720"/>
            <a:ext cx="8046720" cy="594360"/>
          </a:xfrm>
          <a:prstGeom prst="rect">
            <a:avLst/>
          </a:prstGeom>
          <a:solidFill>
            <a:srgbClr val="E8F5EE"/>
          </a:solidFill>
          <a:ln/>
        </p:spPr>
      </p:sp>
      <p:sp>
        <p:nvSpPr>
          <p:cNvPr id="14" name="Shape 12"/>
          <p:cNvSpPr/>
          <p:nvPr/>
        </p:nvSpPr>
        <p:spPr>
          <a:xfrm>
            <a:off x="548640" y="3474720"/>
            <a:ext cx="64008" cy="594360"/>
          </a:xfrm>
          <a:prstGeom prst="rect">
            <a:avLst/>
          </a:prstGeom>
          <a:solidFill>
            <a:srgbClr val="3D8B6E"/>
          </a:solidFill>
          <a:ln/>
        </p:spPr>
      </p:sp>
      <p:sp>
        <p:nvSpPr>
          <p:cNvPr id="15" name="Text 13"/>
          <p:cNvSpPr/>
          <p:nvPr/>
        </p:nvSpPr>
        <p:spPr>
          <a:xfrm>
            <a:off x="822960" y="3474720"/>
            <a:ext cx="3200400" cy="5943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C. ライフサイクル管理</a:t>
            </a:r>
            <a:endParaRPr lang="en-US" sz="1300" dirty="0"/>
          </a:p>
        </p:txBody>
      </p:sp>
      <p:sp>
        <p:nvSpPr>
          <p:cNvPr id="16" name="Text 14"/>
          <p:cNvSpPr/>
          <p:nvPr/>
        </p:nvSpPr>
        <p:spPr>
          <a:xfrm>
            <a:off x="4114800" y="3474720"/>
            <a:ext cx="4114800" cy="594360"/>
          </a:xfrm>
          <a:prstGeom prst="rect">
            <a:avLst/>
          </a:prstGeom>
          <a:noFill/>
          <a:ln/>
        </p:spPr>
        <p:txBody>
          <a:bodyPr wrap="square" lIns="0" tIns="0" rIns="0" bIns="0" rtlCol="0" anchor="ctr"/>
          <a:lstStyle/>
          <a:p>
            <a:pPr indent="0" marL="0">
              <a:buNone/>
            </a:pPr>
            <a:r>
              <a:rPr lang="en-US" sz="1100" dirty="0">
                <a:solidFill>
                  <a:srgbClr val="5A6A7A"/>
                </a:solidFill>
                <a:latin typeface="Meiryo" pitchFamily="34" charset="0"/>
                <a:ea typeface="Meiryo" pitchFamily="34" charset="-122"/>
                <a:cs typeface="Meiryo" pitchFamily="34" charset="-120"/>
              </a:rPr>
              <a:t>変更追従、棚卸し、ゾンビCI対策</a:t>
            </a:r>
            <a:endParaRPr lang="en-US" sz="1100" dirty="0"/>
          </a:p>
        </p:txBody>
      </p:sp>
      <p:sp>
        <p:nvSpPr>
          <p:cNvPr id="17" name="Shape 15"/>
          <p:cNvSpPr/>
          <p:nvPr/>
        </p:nvSpPr>
        <p:spPr>
          <a:xfrm>
            <a:off x="548640" y="4206240"/>
            <a:ext cx="8046720" cy="594360"/>
          </a:xfrm>
          <a:prstGeom prst="rect">
            <a:avLst/>
          </a:prstGeom>
          <a:solidFill>
            <a:srgbClr val="FDEDED"/>
          </a:solidFill>
          <a:ln/>
        </p:spPr>
      </p:sp>
      <p:sp>
        <p:nvSpPr>
          <p:cNvPr id="18" name="Shape 16"/>
          <p:cNvSpPr/>
          <p:nvPr/>
        </p:nvSpPr>
        <p:spPr>
          <a:xfrm>
            <a:off x="548640" y="4206240"/>
            <a:ext cx="64008" cy="594360"/>
          </a:xfrm>
          <a:prstGeom prst="rect">
            <a:avLst/>
          </a:prstGeom>
          <a:solidFill>
            <a:srgbClr val="C44D4D"/>
          </a:solidFill>
          <a:ln/>
        </p:spPr>
      </p:sp>
      <p:sp>
        <p:nvSpPr>
          <p:cNvPr id="19" name="Text 17"/>
          <p:cNvSpPr/>
          <p:nvPr/>
        </p:nvSpPr>
        <p:spPr>
          <a:xfrm>
            <a:off x="822960" y="4206240"/>
            <a:ext cx="3200400" cy="5943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D. セキュリティ・監査</a:t>
            </a:r>
            <a:endParaRPr lang="en-US" sz="1300" dirty="0"/>
          </a:p>
        </p:txBody>
      </p:sp>
      <p:sp>
        <p:nvSpPr>
          <p:cNvPr id="20" name="Text 18"/>
          <p:cNvSpPr/>
          <p:nvPr/>
        </p:nvSpPr>
        <p:spPr>
          <a:xfrm>
            <a:off x="4114800" y="4206240"/>
            <a:ext cx="4114800" cy="594360"/>
          </a:xfrm>
          <a:prstGeom prst="rect">
            <a:avLst/>
          </a:prstGeom>
          <a:noFill/>
          <a:ln/>
        </p:spPr>
        <p:txBody>
          <a:bodyPr wrap="square" lIns="0" tIns="0" rIns="0" bIns="0" rtlCol="0" anchor="ctr"/>
          <a:lstStyle/>
          <a:p>
            <a:pPr indent="0" marL="0">
              <a:buNone/>
            </a:pPr>
            <a:r>
              <a:rPr lang="en-US" sz="1100" dirty="0">
                <a:solidFill>
                  <a:srgbClr val="5A6A7A"/>
                </a:solidFill>
                <a:latin typeface="Meiryo" pitchFamily="34" charset="0"/>
                <a:ea typeface="Meiryo" pitchFamily="34" charset="-122"/>
                <a:cs typeface="Meiryo" pitchFamily="34" charset="-120"/>
              </a:rPr>
              <a:t>VR/SIR連携、コンプライアンス、監査対応</a:t>
            </a:r>
            <a:endParaRPr lang="en-US" sz="1100" dirty="0"/>
          </a:p>
        </p:txBody>
      </p:sp>
      <p:sp>
        <p:nvSpPr>
          <p:cNvPr id="21" name="Text 19"/>
          <p:cNvSpPr/>
          <p:nvPr/>
        </p:nvSpPr>
        <p:spPr>
          <a:xfrm>
            <a:off x="548640" y="4572000"/>
            <a:ext cx="8046720" cy="365760"/>
          </a:xfrm>
          <a:prstGeom prst="rect">
            <a:avLst/>
          </a:prstGeom>
          <a:noFill/>
          <a:ln/>
        </p:spPr>
        <p:txBody>
          <a:bodyPr wrap="square" rtlCol="0" anchor="ctr"/>
          <a:lstStyle/>
          <a:p>
            <a:pPr indent="0" marL="0">
              <a:buNone/>
            </a:pPr>
            <a:r>
              <a:rPr lang="en-US" sz="1000" i="1" dirty="0">
                <a:solidFill>
                  <a:srgbClr val="5A6A7A"/>
                </a:solidFill>
                <a:latin typeface="Meiryo" pitchFamily="34" charset="0"/>
                <a:ea typeface="Meiryo" pitchFamily="34" charset="-122"/>
                <a:cs typeface="Meiryo" pitchFamily="34" charset="-120"/>
              </a:rPr>
              <a:t>次ページ以降、各カテゴリの懸念点を詳細に説明</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A. 申請フロー・運用設計に関する懸念点</a:t>
            </a:r>
            <a:endParaRPr lang="en-US" sz="2000" dirty="0"/>
          </a:p>
        </p:txBody>
      </p:sp>
      <p:sp>
        <p:nvSpPr>
          <p:cNvPr id="4" name="Shape 2"/>
          <p:cNvSpPr/>
          <p:nvPr/>
        </p:nvSpPr>
        <p:spPr>
          <a:xfrm>
            <a:off x="548640" y="1005840"/>
            <a:ext cx="502920" cy="365760"/>
          </a:xfrm>
          <a:prstGeom prst="rect">
            <a:avLst/>
          </a:prstGeom>
          <a:solidFill>
            <a:srgbClr val="2C4A7C"/>
          </a:solidFill>
          <a:ln/>
        </p:spPr>
      </p:sp>
      <p:sp>
        <p:nvSpPr>
          <p:cNvPr id="5" name="Text 3"/>
          <p:cNvSpPr/>
          <p:nvPr/>
        </p:nvSpPr>
        <p:spPr>
          <a:xfrm>
            <a:off x="548640" y="100584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A-1</a:t>
            </a:r>
            <a:endParaRPr lang="en-US" sz="1000" dirty="0"/>
          </a:p>
        </p:txBody>
      </p:sp>
      <p:sp>
        <p:nvSpPr>
          <p:cNvPr id="6" name="Text 4"/>
          <p:cNvSpPr/>
          <p:nvPr/>
        </p:nvSpPr>
        <p:spPr>
          <a:xfrm>
            <a:off x="1188720" y="100584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申請フォームの入力項目の設計・標準化</a:t>
            </a:r>
            <a:endParaRPr lang="en-US" sz="1300" dirty="0"/>
          </a:p>
        </p:txBody>
      </p:sp>
      <p:sp>
        <p:nvSpPr>
          <p:cNvPr id="7" name="Text 5"/>
          <p:cNvSpPr/>
          <p:nvPr/>
        </p:nvSpPr>
        <p:spPr>
          <a:xfrm>
            <a:off x="1188720" y="141732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ポータル申請画面で入力すべきCI属性項目（インスタンスタイプ、OS、IPアドレス、リージョン等）を明確に定義する必要がある。自動収集ではAPIが網羅的に取得する項目を、手動では申請者が正確に入力しなければならず、必須項目・任意項目の設計とバリデーションルールの整備が不可欠。</a:t>
            </a:r>
            <a:endParaRPr lang="en-US" sz="1000" dirty="0"/>
          </a:p>
        </p:txBody>
      </p:sp>
      <p:sp>
        <p:nvSpPr>
          <p:cNvPr id="8" name="Shape 6"/>
          <p:cNvSpPr/>
          <p:nvPr/>
        </p:nvSpPr>
        <p:spPr>
          <a:xfrm>
            <a:off x="548640" y="2331720"/>
            <a:ext cx="502920" cy="365760"/>
          </a:xfrm>
          <a:prstGeom prst="rect">
            <a:avLst/>
          </a:prstGeom>
          <a:solidFill>
            <a:srgbClr val="2C4A7C"/>
          </a:solidFill>
          <a:ln/>
        </p:spPr>
      </p:sp>
      <p:sp>
        <p:nvSpPr>
          <p:cNvPr id="9" name="Text 7"/>
          <p:cNvSpPr/>
          <p:nvPr/>
        </p:nvSpPr>
        <p:spPr>
          <a:xfrm>
            <a:off x="548640" y="233172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A-2</a:t>
            </a:r>
            <a:endParaRPr lang="en-US" sz="1000" dirty="0"/>
          </a:p>
        </p:txBody>
      </p:sp>
      <p:sp>
        <p:nvSpPr>
          <p:cNvPr id="10" name="Text 8"/>
          <p:cNvSpPr/>
          <p:nvPr/>
        </p:nvSpPr>
        <p:spPr>
          <a:xfrm>
            <a:off x="1188720" y="233172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申請者の権限管理とロール設計</a:t>
            </a:r>
            <a:endParaRPr lang="en-US" sz="1300" dirty="0"/>
          </a:p>
        </p:txBody>
      </p:sp>
      <p:sp>
        <p:nvSpPr>
          <p:cNvPr id="11" name="Text 9"/>
          <p:cNvSpPr/>
          <p:nvPr/>
        </p:nvSpPr>
        <p:spPr>
          <a:xfrm>
            <a:off x="1188720" y="274320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誰がCI登録申請を行えるか、誰が承認するかの権限設計が必要。誤登録時のiNOCメンテナンス負荷（懸念点①）を軽減するためにも、申請者をクラウド管理者等に限定し、承認フローで誤りを検出する仕組みが求められる。</a:t>
            </a:r>
            <a:endParaRPr lang="en-US" sz="1000" dirty="0"/>
          </a:p>
        </p:txBody>
      </p:sp>
      <p:sp>
        <p:nvSpPr>
          <p:cNvPr id="12" name="Shape 10"/>
          <p:cNvSpPr/>
          <p:nvPr/>
        </p:nvSpPr>
        <p:spPr>
          <a:xfrm>
            <a:off x="548640" y="3657600"/>
            <a:ext cx="502920" cy="365760"/>
          </a:xfrm>
          <a:prstGeom prst="rect">
            <a:avLst/>
          </a:prstGeom>
          <a:solidFill>
            <a:srgbClr val="2C4A7C"/>
          </a:solidFill>
          <a:ln/>
        </p:spPr>
      </p:sp>
      <p:sp>
        <p:nvSpPr>
          <p:cNvPr id="13" name="Text 11"/>
          <p:cNvSpPr/>
          <p:nvPr/>
        </p:nvSpPr>
        <p:spPr>
          <a:xfrm>
            <a:off x="548640" y="365760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A-3</a:t>
            </a:r>
            <a:endParaRPr lang="en-US" sz="1000" dirty="0"/>
          </a:p>
        </p:txBody>
      </p:sp>
      <p:sp>
        <p:nvSpPr>
          <p:cNvPr id="14" name="Text 12"/>
          <p:cNvSpPr/>
          <p:nvPr/>
        </p:nvSpPr>
        <p:spPr>
          <a:xfrm>
            <a:off x="1188720" y="365760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申請～承認～登録完了までのリードタイムの管理</a:t>
            </a:r>
            <a:endParaRPr lang="en-US" sz="1300" dirty="0"/>
          </a:p>
        </p:txBody>
      </p:sp>
      <p:sp>
        <p:nvSpPr>
          <p:cNvPr id="15" name="Text 13"/>
          <p:cNvSpPr/>
          <p:nvPr/>
        </p:nvSpPr>
        <p:spPr>
          <a:xfrm>
            <a:off x="1188720" y="406908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ポータル申請から実際のCMDB登録までのリードタイムが長いと、クラウド側でのリソース作成とCMDB登録のタイミング差が生じる。この間はCMDBに未登録の状態となり、インシデント管理やVR/SIRに影響が出る可能性がある。</a:t>
            </a:r>
            <a:endParaRPr lang="en-US" sz="1000" dirty="0"/>
          </a:p>
        </p:txBody>
      </p:sp>
      <p:sp>
        <p:nvSpPr>
          <p:cNvPr id="16" name="Shape 14"/>
          <p:cNvSpPr/>
          <p:nvPr/>
        </p:nvSpPr>
        <p:spPr>
          <a:xfrm>
            <a:off x="0" y="4892040"/>
            <a:ext cx="9144000" cy="251460"/>
          </a:xfrm>
          <a:prstGeom prst="rect">
            <a:avLst/>
          </a:prstGeom>
          <a:solidFill>
            <a:srgbClr val="F4F6F9"/>
          </a:solidFill>
          <a:ln/>
        </p:spPr>
      </p:sp>
      <p:sp>
        <p:nvSpPr>
          <p:cNvPr id="17" name="Text 15"/>
          <p:cNvSpPr/>
          <p:nvPr/>
        </p:nvSpPr>
        <p:spPr>
          <a:xfrm>
            <a:off x="548640" y="4892040"/>
            <a:ext cx="6400800" cy="251460"/>
          </a:xfrm>
          <a:prstGeom prst="rect">
            <a:avLst/>
          </a:prstGeom>
          <a:noFill/>
          <a:ln/>
        </p:spPr>
        <p:txBody>
          <a:bodyPr wrap="square" lIns="0" tIns="0" rIns="0" bIns="0" rtlCol="0" anchor="ctr"/>
          <a:lstStyle/>
          <a:p>
            <a:pPr indent="0" marL="0">
              <a:buNone/>
            </a:pPr>
            <a:r>
              <a:rPr lang="en-US" sz="800" dirty="0">
                <a:solidFill>
                  <a:srgbClr val="5A6A7A"/>
                </a:solidFill>
                <a:latin typeface="Meiryo" pitchFamily="34" charset="0"/>
                <a:ea typeface="Meiryo" pitchFamily="34" charset="-122"/>
                <a:cs typeface="Meiryo" pitchFamily="34" charset="-120"/>
              </a:rPr>
              <a:t>ISM-1323 クラウドリソース手動登録 運用懸念点</a:t>
            </a:r>
            <a:endParaRPr lang="en-US" sz="800" dirty="0"/>
          </a:p>
        </p:txBody>
      </p:sp>
      <p:sp>
        <p:nvSpPr>
          <p:cNvPr id="18" name="Text 16"/>
          <p:cNvSpPr/>
          <p:nvPr/>
        </p:nvSpPr>
        <p:spPr>
          <a:xfrm>
            <a:off x="7315200" y="4892040"/>
            <a:ext cx="1371600" cy="251460"/>
          </a:xfrm>
          <a:prstGeom prst="rect">
            <a:avLst/>
          </a:prstGeom>
          <a:noFill/>
          <a:ln/>
        </p:spPr>
        <p:txBody>
          <a:bodyPr wrap="square" lIns="0" tIns="0" rIns="0" bIns="0" rtlCol="0" anchor="ctr"/>
          <a:lstStyle/>
          <a:p>
            <a:pPr algn="r" indent="0" marL="0">
              <a:buNone/>
            </a:pPr>
            <a:r>
              <a:rPr lang="en-US" sz="800" dirty="0">
                <a:solidFill>
                  <a:srgbClr val="5A6A7A"/>
                </a:solidFill>
                <a:latin typeface="Meiryo" pitchFamily="34" charset="0"/>
                <a:ea typeface="Meiryo" pitchFamily="34" charset="-122"/>
                <a:cs typeface="Meiryo" pitchFamily="34" charset="-120"/>
              </a:rPr>
              <a:t>3 / 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B. データ品質・整合性に関する懸念点（1/2）</a:t>
            </a:r>
            <a:endParaRPr lang="en-US" sz="2000" dirty="0"/>
          </a:p>
        </p:txBody>
      </p:sp>
      <p:sp>
        <p:nvSpPr>
          <p:cNvPr id="4" name="Shape 2"/>
          <p:cNvSpPr/>
          <p:nvPr/>
        </p:nvSpPr>
        <p:spPr>
          <a:xfrm>
            <a:off x="548640" y="1005840"/>
            <a:ext cx="502920" cy="365760"/>
          </a:xfrm>
          <a:prstGeom prst="rect">
            <a:avLst/>
          </a:prstGeom>
          <a:solidFill>
            <a:srgbClr val="E8913A"/>
          </a:solidFill>
          <a:ln/>
        </p:spPr>
      </p:sp>
      <p:sp>
        <p:nvSpPr>
          <p:cNvPr id="5" name="Text 3"/>
          <p:cNvSpPr/>
          <p:nvPr/>
        </p:nvSpPr>
        <p:spPr>
          <a:xfrm>
            <a:off x="548640" y="100584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B-1</a:t>
            </a:r>
            <a:endParaRPr lang="en-US" sz="1000" dirty="0"/>
          </a:p>
        </p:txBody>
      </p:sp>
      <p:sp>
        <p:nvSpPr>
          <p:cNvPr id="6" name="Text 4"/>
          <p:cNvSpPr/>
          <p:nvPr/>
        </p:nvSpPr>
        <p:spPr>
          <a:xfrm>
            <a:off x="1188720" y="100584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CI属性情報の入力ミス・記載漏れによるデータ品質低下</a:t>
            </a:r>
            <a:endParaRPr lang="en-US" sz="1300" dirty="0"/>
          </a:p>
        </p:txBody>
      </p:sp>
      <p:sp>
        <p:nvSpPr>
          <p:cNvPr id="7" name="Text 5"/>
          <p:cNvSpPr/>
          <p:nvPr/>
        </p:nvSpPr>
        <p:spPr>
          <a:xfrm>
            <a:off x="1188720" y="141732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自動収集ではAPIから正確な属性が反映されるが、手動入力ではヒューマンエラーが避けられない。特にIPアドレス、インスタンスID、リージョン等の技術的な値は転記ミスが発生しやすく、CMDB全体のデータ品質に影響する。入力チェック機能（バリデーション）の実装が重要。</a:t>
            </a:r>
            <a:endParaRPr lang="en-US" sz="1000" dirty="0"/>
          </a:p>
        </p:txBody>
      </p:sp>
      <p:sp>
        <p:nvSpPr>
          <p:cNvPr id="8" name="Shape 6"/>
          <p:cNvSpPr/>
          <p:nvPr/>
        </p:nvSpPr>
        <p:spPr>
          <a:xfrm>
            <a:off x="548640" y="2331720"/>
            <a:ext cx="502920" cy="365760"/>
          </a:xfrm>
          <a:prstGeom prst="rect">
            <a:avLst/>
          </a:prstGeom>
          <a:solidFill>
            <a:srgbClr val="E8913A"/>
          </a:solidFill>
          <a:ln/>
        </p:spPr>
      </p:sp>
      <p:sp>
        <p:nvSpPr>
          <p:cNvPr id="9" name="Text 7"/>
          <p:cNvSpPr/>
          <p:nvPr/>
        </p:nvSpPr>
        <p:spPr>
          <a:xfrm>
            <a:off x="548640" y="233172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B-2</a:t>
            </a:r>
            <a:endParaRPr lang="en-US" sz="1000" dirty="0"/>
          </a:p>
        </p:txBody>
      </p:sp>
      <p:sp>
        <p:nvSpPr>
          <p:cNvPr id="10" name="Text 8"/>
          <p:cNvSpPr/>
          <p:nvPr/>
        </p:nvSpPr>
        <p:spPr>
          <a:xfrm>
            <a:off x="1188720" y="233172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CI Relationships（関係性）の手動構築の困難さ</a:t>
            </a:r>
            <a:endParaRPr lang="en-US" sz="1300" dirty="0"/>
          </a:p>
        </p:txBody>
      </p:sp>
      <p:sp>
        <p:nvSpPr>
          <p:cNvPr id="11" name="Text 9"/>
          <p:cNvSpPr/>
          <p:nvPr/>
        </p:nvSpPr>
        <p:spPr>
          <a:xfrm>
            <a:off x="1188720" y="274320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自動収集ではアカウント→リージョン→VPC→EC2→セキュリティグループ等の階層関係が自動的に構築されるが（既知懸念点②③）、手動登録では各CIの親子関係や依存関係を申請者が正しく指定する必要がある。ポータル画面でRelationship情報をどのように入力させるかの設計が課題。</a:t>
            </a:r>
            <a:endParaRPr lang="en-US" sz="1000" dirty="0"/>
          </a:p>
        </p:txBody>
      </p:sp>
      <p:sp>
        <p:nvSpPr>
          <p:cNvPr id="12" name="Shape 10"/>
          <p:cNvSpPr/>
          <p:nvPr/>
        </p:nvSpPr>
        <p:spPr>
          <a:xfrm>
            <a:off x="548640" y="3657600"/>
            <a:ext cx="502920" cy="365760"/>
          </a:xfrm>
          <a:prstGeom prst="rect">
            <a:avLst/>
          </a:prstGeom>
          <a:solidFill>
            <a:srgbClr val="E8913A"/>
          </a:solidFill>
          <a:ln/>
        </p:spPr>
      </p:sp>
      <p:sp>
        <p:nvSpPr>
          <p:cNvPr id="13" name="Text 11"/>
          <p:cNvSpPr/>
          <p:nvPr/>
        </p:nvSpPr>
        <p:spPr>
          <a:xfrm>
            <a:off x="548640" y="365760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B-3</a:t>
            </a:r>
            <a:endParaRPr lang="en-US" sz="1000" dirty="0"/>
          </a:p>
        </p:txBody>
      </p:sp>
      <p:sp>
        <p:nvSpPr>
          <p:cNvPr id="14" name="Text 12"/>
          <p:cNvSpPr/>
          <p:nvPr/>
        </p:nvSpPr>
        <p:spPr>
          <a:xfrm>
            <a:off x="1188720" y="365760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クラウドサービスアカウントとの紐づけ漏れ</a:t>
            </a:r>
            <a:endParaRPr lang="en-US" sz="1300" dirty="0"/>
          </a:p>
        </p:txBody>
      </p:sp>
      <p:sp>
        <p:nvSpPr>
          <p:cNvPr id="15" name="Text 13"/>
          <p:cNvSpPr/>
          <p:nvPr/>
        </p:nvSpPr>
        <p:spPr>
          <a:xfrm>
            <a:off x="1188720" y="406908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手動登録CIがクラウドサービスアカウントCIと正しく紐づかない場合、設備種別・管理グループの情報がリソースに反映されず（既知懸念点⑤）、VR/SIRでの脆弱性管理やセキュリティインシデント対応に影響が出る。ポータル申請時にアカウント情報を必須入力とする運用設計が必要。</a:t>
            </a:r>
            <a:endParaRPr lang="en-US" sz="1000" dirty="0"/>
          </a:p>
        </p:txBody>
      </p:sp>
      <p:sp>
        <p:nvSpPr>
          <p:cNvPr id="16" name="Shape 14"/>
          <p:cNvSpPr/>
          <p:nvPr/>
        </p:nvSpPr>
        <p:spPr>
          <a:xfrm>
            <a:off x="0" y="4892040"/>
            <a:ext cx="9144000" cy="251460"/>
          </a:xfrm>
          <a:prstGeom prst="rect">
            <a:avLst/>
          </a:prstGeom>
          <a:solidFill>
            <a:srgbClr val="F4F6F9"/>
          </a:solidFill>
          <a:ln/>
        </p:spPr>
      </p:sp>
      <p:sp>
        <p:nvSpPr>
          <p:cNvPr id="17" name="Text 15"/>
          <p:cNvSpPr/>
          <p:nvPr/>
        </p:nvSpPr>
        <p:spPr>
          <a:xfrm>
            <a:off x="548640" y="4892040"/>
            <a:ext cx="6400800" cy="251460"/>
          </a:xfrm>
          <a:prstGeom prst="rect">
            <a:avLst/>
          </a:prstGeom>
          <a:noFill/>
          <a:ln/>
        </p:spPr>
        <p:txBody>
          <a:bodyPr wrap="square" lIns="0" tIns="0" rIns="0" bIns="0" rtlCol="0" anchor="ctr"/>
          <a:lstStyle/>
          <a:p>
            <a:pPr indent="0" marL="0">
              <a:buNone/>
            </a:pPr>
            <a:r>
              <a:rPr lang="en-US" sz="800" dirty="0">
                <a:solidFill>
                  <a:srgbClr val="5A6A7A"/>
                </a:solidFill>
                <a:latin typeface="Meiryo" pitchFamily="34" charset="0"/>
                <a:ea typeface="Meiryo" pitchFamily="34" charset="-122"/>
                <a:cs typeface="Meiryo" pitchFamily="34" charset="-120"/>
              </a:rPr>
              <a:t>ISM-1323 クラウドリソース手動登録 運用懸念点</a:t>
            </a:r>
            <a:endParaRPr lang="en-US" sz="800" dirty="0"/>
          </a:p>
        </p:txBody>
      </p:sp>
      <p:sp>
        <p:nvSpPr>
          <p:cNvPr id="18" name="Text 16"/>
          <p:cNvSpPr/>
          <p:nvPr/>
        </p:nvSpPr>
        <p:spPr>
          <a:xfrm>
            <a:off x="7315200" y="4892040"/>
            <a:ext cx="1371600" cy="251460"/>
          </a:xfrm>
          <a:prstGeom prst="rect">
            <a:avLst/>
          </a:prstGeom>
          <a:noFill/>
          <a:ln/>
        </p:spPr>
        <p:txBody>
          <a:bodyPr wrap="square" lIns="0" tIns="0" rIns="0" bIns="0" rtlCol="0" anchor="ctr"/>
          <a:lstStyle/>
          <a:p>
            <a:pPr algn="r" indent="0" marL="0">
              <a:buNone/>
            </a:pPr>
            <a:r>
              <a:rPr lang="en-US" sz="800" dirty="0">
                <a:solidFill>
                  <a:srgbClr val="5A6A7A"/>
                </a:solidFill>
                <a:latin typeface="Meiryo" pitchFamily="34" charset="0"/>
                <a:ea typeface="Meiryo" pitchFamily="34" charset="-122"/>
                <a:cs typeface="Meiryo" pitchFamily="34" charset="-120"/>
              </a:rPr>
              <a:t>4 / 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B. データ品質・整合性に関する懸念点（2/2）</a:t>
            </a:r>
            <a:endParaRPr lang="en-US" sz="2000" dirty="0"/>
          </a:p>
        </p:txBody>
      </p:sp>
      <p:sp>
        <p:nvSpPr>
          <p:cNvPr id="4" name="Shape 2"/>
          <p:cNvSpPr/>
          <p:nvPr/>
        </p:nvSpPr>
        <p:spPr>
          <a:xfrm>
            <a:off x="548640" y="1005840"/>
            <a:ext cx="502920" cy="365760"/>
          </a:xfrm>
          <a:prstGeom prst="rect">
            <a:avLst/>
          </a:prstGeom>
          <a:solidFill>
            <a:srgbClr val="E8913A"/>
          </a:solidFill>
          <a:ln/>
        </p:spPr>
      </p:sp>
      <p:sp>
        <p:nvSpPr>
          <p:cNvPr id="5" name="Text 3"/>
          <p:cNvSpPr/>
          <p:nvPr/>
        </p:nvSpPr>
        <p:spPr>
          <a:xfrm>
            <a:off x="548640" y="100584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B-4</a:t>
            </a:r>
            <a:endParaRPr lang="en-US" sz="1000" dirty="0"/>
          </a:p>
        </p:txBody>
      </p:sp>
      <p:sp>
        <p:nvSpPr>
          <p:cNvPr id="6" name="Text 4"/>
          <p:cNvSpPr/>
          <p:nvPr/>
        </p:nvSpPr>
        <p:spPr>
          <a:xfrm>
            <a:off x="1188720" y="100584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CMDB Healthスコアへの悪影響</a:t>
            </a:r>
            <a:endParaRPr lang="en-US" sz="1300" dirty="0"/>
          </a:p>
        </p:txBody>
      </p:sp>
      <p:sp>
        <p:nvSpPr>
          <p:cNvPr id="7" name="Text 5"/>
          <p:cNvSpPr/>
          <p:nvPr/>
        </p:nvSpPr>
        <p:spPr>
          <a:xfrm>
            <a:off x="1188720" y="141732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手動登録CIはRelationshipsの欠如、属性の不完全性により、CMDBのCompleteness・Compliance・Relationshipスコアが低下する。CMDB Health全体の信頼性指標に悪影響を与え、CMDB運用の品質管理に支障をきたす可能性がある。</a:t>
            </a:r>
            <a:endParaRPr lang="en-US" sz="1000" dirty="0"/>
          </a:p>
        </p:txBody>
      </p:sp>
      <p:sp>
        <p:nvSpPr>
          <p:cNvPr id="8" name="Shape 6"/>
          <p:cNvSpPr/>
          <p:nvPr/>
        </p:nvSpPr>
        <p:spPr>
          <a:xfrm>
            <a:off x="548640" y="2331720"/>
            <a:ext cx="502920" cy="365760"/>
          </a:xfrm>
          <a:prstGeom prst="rect">
            <a:avLst/>
          </a:prstGeom>
          <a:solidFill>
            <a:srgbClr val="E8913A"/>
          </a:solidFill>
          <a:ln/>
        </p:spPr>
      </p:sp>
      <p:sp>
        <p:nvSpPr>
          <p:cNvPr id="9" name="Text 7"/>
          <p:cNvSpPr/>
          <p:nvPr/>
        </p:nvSpPr>
        <p:spPr>
          <a:xfrm>
            <a:off x="548640" y="233172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B-5</a:t>
            </a:r>
            <a:endParaRPr lang="en-US" sz="1000" dirty="0"/>
          </a:p>
        </p:txBody>
      </p:sp>
      <p:sp>
        <p:nvSpPr>
          <p:cNvPr id="10" name="Text 8"/>
          <p:cNvSpPr/>
          <p:nvPr/>
        </p:nvSpPr>
        <p:spPr>
          <a:xfrm>
            <a:off x="1188720" y="233172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自動収集CIとの重複・不整合リスク</a:t>
            </a:r>
            <a:endParaRPr lang="en-US" sz="1300" dirty="0"/>
          </a:p>
        </p:txBody>
      </p:sp>
      <p:sp>
        <p:nvSpPr>
          <p:cNvPr id="11" name="Text 9"/>
          <p:cNvSpPr/>
          <p:nvPr/>
        </p:nvSpPr>
        <p:spPr>
          <a:xfrm>
            <a:off x="1188720" y="274320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将来的にSG-AWS/Azureを部分的に導入した場合、手動登録済みCIと自動収集CIが重複するリスクがある。IRE（Identification and Reconciliation Engine）での統合ルール設計が不十分だと、同一リソースが複数CIとして存在し、データ不整合が発生する。</a:t>
            </a:r>
            <a:endParaRPr lang="en-US" sz="1000" dirty="0"/>
          </a:p>
        </p:txBody>
      </p:sp>
      <p:sp>
        <p:nvSpPr>
          <p:cNvPr id="12" name="Shape 10"/>
          <p:cNvSpPr/>
          <p:nvPr/>
        </p:nvSpPr>
        <p:spPr>
          <a:xfrm>
            <a:off x="548640" y="3657600"/>
            <a:ext cx="502920" cy="365760"/>
          </a:xfrm>
          <a:prstGeom prst="rect">
            <a:avLst/>
          </a:prstGeom>
          <a:solidFill>
            <a:srgbClr val="E8913A"/>
          </a:solidFill>
          <a:ln/>
        </p:spPr>
      </p:sp>
      <p:sp>
        <p:nvSpPr>
          <p:cNvPr id="13" name="Text 11"/>
          <p:cNvSpPr/>
          <p:nvPr/>
        </p:nvSpPr>
        <p:spPr>
          <a:xfrm>
            <a:off x="548640" y="365760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B-6</a:t>
            </a:r>
            <a:endParaRPr lang="en-US" sz="1000" dirty="0"/>
          </a:p>
        </p:txBody>
      </p:sp>
      <p:sp>
        <p:nvSpPr>
          <p:cNvPr id="14" name="Text 12"/>
          <p:cNvSpPr/>
          <p:nvPr/>
        </p:nvSpPr>
        <p:spPr>
          <a:xfrm>
            <a:off x="1188720" y="365760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タグ情報の管理・反映が困難</a:t>
            </a:r>
            <a:endParaRPr lang="en-US" sz="1300" dirty="0"/>
          </a:p>
        </p:txBody>
      </p:sp>
      <p:sp>
        <p:nvSpPr>
          <p:cNvPr id="15" name="Text 13"/>
          <p:cNvSpPr/>
          <p:nvPr/>
        </p:nvSpPr>
        <p:spPr>
          <a:xfrm>
            <a:off x="1188720" y="406908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自動収集ではAWS/AzureのリソースタグがCI属性として取り込まれ、コスト配分やオーナー識別に活用できるが、手動登録ではタグ情報の反映・更新が困難。タグベースの運用管理方針がある場合、手動登録CIでは対応できない可能性がある。</a:t>
            </a:r>
            <a:endParaRPr lang="en-US" sz="1000" dirty="0"/>
          </a:p>
        </p:txBody>
      </p:sp>
      <p:sp>
        <p:nvSpPr>
          <p:cNvPr id="16" name="Shape 14"/>
          <p:cNvSpPr/>
          <p:nvPr/>
        </p:nvSpPr>
        <p:spPr>
          <a:xfrm>
            <a:off x="0" y="4892040"/>
            <a:ext cx="9144000" cy="251460"/>
          </a:xfrm>
          <a:prstGeom prst="rect">
            <a:avLst/>
          </a:prstGeom>
          <a:solidFill>
            <a:srgbClr val="F4F6F9"/>
          </a:solidFill>
          <a:ln/>
        </p:spPr>
      </p:sp>
      <p:sp>
        <p:nvSpPr>
          <p:cNvPr id="17" name="Text 15"/>
          <p:cNvSpPr/>
          <p:nvPr/>
        </p:nvSpPr>
        <p:spPr>
          <a:xfrm>
            <a:off x="548640" y="4892040"/>
            <a:ext cx="6400800" cy="251460"/>
          </a:xfrm>
          <a:prstGeom prst="rect">
            <a:avLst/>
          </a:prstGeom>
          <a:noFill/>
          <a:ln/>
        </p:spPr>
        <p:txBody>
          <a:bodyPr wrap="square" lIns="0" tIns="0" rIns="0" bIns="0" rtlCol="0" anchor="ctr"/>
          <a:lstStyle/>
          <a:p>
            <a:pPr indent="0" marL="0">
              <a:buNone/>
            </a:pPr>
            <a:r>
              <a:rPr lang="en-US" sz="800" dirty="0">
                <a:solidFill>
                  <a:srgbClr val="5A6A7A"/>
                </a:solidFill>
                <a:latin typeface="Meiryo" pitchFamily="34" charset="0"/>
                <a:ea typeface="Meiryo" pitchFamily="34" charset="-122"/>
                <a:cs typeface="Meiryo" pitchFamily="34" charset="-120"/>
              </a:rPr>
              <a:t>ISM-1323 クラウドリソース手動登録 運用懸念点</a:t>
            </a:r>
            <a:endParaRPr lang="en-US" sz="800" dirty="0"/>
          </a:p>
        </p:txBody>
      </p:sp>
      <p:sp>
        <p:nvSpPr>
          <p:cNvPr id="18" name="Text 16"/>
          <p:cNvSpPr/>
          <p:nvPr/>
        </p:nvSpPr>
        <p:spPr>
          <a:xfrm>
            <a:off x="7315200" y="4892040"/>
            <a:ext cx="1371600" cy="251460"/>
          </a:xfrm>
          <a:prstGeom prst="rect">
            <a:avLst/>
          </a:prstGeom>
          <a:noFill/>
          <a:ln/>
        </p:spPr>
        <p:txBody>
          <a:bodyPr wrap="square" lIns="0" tIns="0" rIns="0" bIns="0" rtlCol="0" anchor="ctr"/>
          <a:lstStyle/>
          <a:p>
            <a:pPr algn="r" indent="0" marL="0">
              <a:buNone/>
            </a:pPr>
            <a:r>
              <a:rPr lang="en-US" sz="800" dirty="0">
                <a:solidFill>
                  <a:srgbClr val="5A6A7A"/>
                </a:solidFill>
                <a:latin typeface="Meiryo" pitchFamily="34" charset="0"/>
                <a:ea typeface="Meiryo" pitchFamily="34" charset="-122"/>
                <a:cs typeface="Meiryo" pitchFamily="34" charset="-120"/>
              </a:rPr>
              <a:t>5 / 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C. ライフサイクル管理に関する懸念点</a:t>
            </a:r>
            <a:endParaRPr lang="en-US" sz="2000" dirty="0"/>
          </a:p>
        </p:txBody>
      </p:sp>
      <p:sp>
        <p:nvSpPr>
          <p:cNvPr id="4" name="Shape 2"/>
          <p:cNvSpPr/>
          <p:nvPr/>
        </p:nvSpPr>
        <p:spPr>
          <a:xfrm>
            <a:off x="548640" y="1005840"/>
            <a:ext cx="502920" cy="365760"/>
          </a:xfrm>
          <a:prstGeom prst="rect">
            <a:avLst/>
          </a:prstGeom>
          <a:solidFill>
            <a:srgbClr val="3D8B6E"/>
          </a:solidFill>
          <a:ln/>
        </p:spPr>
      </p:sp>
      <p:sp>
        <p:nvSpPr>
          <p:cNvPr id="5" name="Text 3"/>
          <p:cNvSpPr/>
          <p:nvPr/>
        </p:nvSpPr>
        <p:spPr>
          <a:xfrm>
            <a:off x="548640" y="100584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C-1</a:t>
            </a:r>
            <a:endParaRPr lang="en-US" sz="1000" dirty="0"/>
          </a:p>
        </p:txBody>
      </p:sp>
      <p:sp>
        <p:nvSpPr>
          <p:cNvPr id="6" name="Text 4"/>
          <p:cNvSpPr/>
          <p:nvPr/>
        </p:nvSpPr>
        <p:spPr>
          <a:xfrm>
            <a:off x="1188720" y="100584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リソース変更・削除時のCMDB追従遅延（ゾンビCI問題）</a:t>
            </a:r>
            <a:endParaRPr lang="en-US" sz="1300" dirty="0"/>
          </a:p>
        </p:txBody>
      </p:sp>
      <p:sp>
        <p:nvSpPr>
          <p:cNvPr id="7" name="Text 5"/>
          <p:cNvSpPr/>
          <p:nvPr/>
        </p:nvSpPr>
        <p:spPr>
          <a:xfrm>
            <a:off x="1188720" y="141732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AWS/Azure側でリソースを変更・削除しても、手動運用ではServiceNow側への反映が遅延または漏れる可能性が高い。削除済みリソースがCMDB上に残り続ける「ゾンビCI」が発生し、インシデント管理やChange Managementに誤情報を提供するリスクがある。定期的な棚卸し運用が必須。</a:t>
            </a:r>
            <a:endParaRPr lang="en-US" sz="1000" dirty="0"/>
          </a:p>
        </p:txBody>
      </p:sp>
      <p:sp>
        <p:nvSpPr>
          <p:cNvPr id="8" name="Shape 6"/>
          <p:cNvSpPr/>
          <p:nvPr/>
        </p:nvSpPr>
        <p:spPr>
          <a:xfrm>
            <a:off x="548640" y="2331720"/>
            <a:ext cx="502920" cy="365760"/>
          </a:xfrm>
          <a:prstGeom prst="rect">
            <a:avLst/>
          </a:prstGeom>
          <a:solidFill>
            <a:srgbClr val="3D8B6E"/>
          </a:solidFill>
          <a:ln/>
        </p:spPr>
      </p:sp>
      <p:sp>
        <p:nvSpPr>
          <p:cNvPr id="9" name="Text 7"/>
          <p:cNvSpPr/>
          <p:nvPr/>
        </p:nvSpPr>
        <p:spPr>
          <a:xfrm>
            <a:off x="548640" y="233172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C-2</a:t>
            </a:r>
            <a:endParaRPr lang="en-US" sz="1000" dirty="0"/>
          </a:p>
        </p:txBody>
      </p:sp>
      <p:sp>
        <p:nvSpPr>
          <p:cNvPr id="10" name="Text 8"/>
          <p:cNvSpPr/>
          <p:nvPr/>
        </p:nvSpPr>
        <p:spPr>
          <a:xfrm>
            <a:off x="1188720" y="233172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定期棚卸し（Attestation）の運用負荷</a:t>
            </a:r>
            <a:endParaRPr lang="en-US" sz="1300" dirty="0"/>
          </a:p>
        </p:txBody>
      </p:sp>
      <p:sp>
        <p:nvSpPr>
          <p:cNvPr id="11" name="Text 9"/>
          <p:cNvSpPr/>
          <p:nvPr/>
        </p:nvSpPr>
        <p:spPr>
          <a:xfrm>
            <a:off x="1188720" y="274320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手動登録CIの最新性を担保するため、定期的にクラウド実環境とCMDBの整合性を人手で確認する棚卸し運用が必要となる。クラウドリソース数が多い場合、棚卸しの作業量が膨大になり、運用が形骸化するリスクがある。棚卸し頻度・担当者・手順の設計が重要。</a:t>
            </a:r>
            <a:endParaRPr lang="en-US" sz="1000" dirty="0"/>
          </a:p>
        </p:txBody>
      </p:sp>
      <p:sp>
        <p:nvSpPr>
          <p:cNvPr id="12" name="Shape 10"/>
          <p:cNvSpPr/>
          <p:nvPr/>
        </p:nvSpPr>
        <p:spPr>
          <a:xfrm>
            <a:off x="548640" y="3657600"/>
            <a:ext cx="502920" cy="365760"/>
          </a:xfrm>
          <a:prstGeom prst="rect">
            <a:avLst/>
          </a:prstGeom>
          <a:solidFill>
            <a:srgbClr val="3D8B6E"/>
          </a:solidFill>
          <a:ln/>
        </p:spPr>
      </p:sp>
      <p:sp>
        <p:nvSpPr>
          <p:cNvPr id="13" name="Text 11"/>
          <p:cNvSpPr/>
          <p:nvPr/>
        </p:nvSpPr>
        <p:spPr>
          <a:xfrm>
            <a:off x="548640" y="3657600"/>
            <a:ext cx="502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C-3</a:t>
            </a:r>
            <a:endParaRPr lang="en-US" sz="1000" dirty="0"/>
          </a:p>
        </p:txBody>
      </p:sp>
      <p:sp>
        <p:nvSpPr>
          <p:cNvPr id="14" name="Text 12"/>
          <p:cNvSpPr/>
          <p:nvPr/>
        </p:nvSpPr>
        <p:spPr>
          <a:xfrm>
            <a:off x="1188720" y="3657600"/>
            <a:ext cx="7406640" cy="365760"/>
          </a:xfrm>
          <a:prstGeom prst="rect">
            <a:avLst/>
          </a:prstGeom>
          <a:noFill/>
          <a:ln/>
        </p:spPr>
        <p:txBody>
          <a:bodyPr wrap="square" lIns="0" tIns="0" rIns="0" bIns="0" rtlCol="0" anchor="ctr"/>
          <a:lstStyle/>
          <a:p>
            <a:pPr indent="0" marL="0">
              <a:buNone/>
            </a:pPr>
            <a:r>
              <a:rPr lang="en-US" sz="1300" b="1" dirty="0">
                <a:solidFill>
                  <a:srgbClr val="1B2A4A"/>
                </a:solidFill>
                <a:latin typeface="Meiryo" pitchFamily="34" charset="0"/>
                <a:ea typeface="Meiryo" pitchFamily="34" charset="-122"/>
                <a:cs typeface="Meiryo" pitchFamily="34" charset="-120"/>
              </a:rPr>
              <a:t>スケーラビリティ（リソース増加時の運用破綻リスク）</a:t>
            </a:r>
            <a:endParaRPr lang="en-US" sz="1300" dirty="0"/>
          </a:p>
        </p:txBody>
      </p:sp>
      <p:sp>
        <p:nvSpPr>
          <p:cNvPr id="15" name="Text 13"/>
          <p:cNvSpPr/>
          <p:nvPr/>
        </p:nvSpPr>
        <p:spPr>
          <a:xfrm>
            <a:off x="1188720" y="4069080"/>
            <a:ext cx="7406640" cy="822960"/>
          </a:xfrm>
          <a:prstGeom prst="rect">
            <a:avLst/>
          </a:prstGeom>
          <a:noFill/>
          <a:ln/>
        </p:spPr>
        <p:txBody>
          <a:bodyPr wrap="square" lIns="0" tIns="0" rIns="0" bIns="0" rtlCol="0" anchor="t"/>
          <a:lstStyle/>
          <a:p>
            <a:pPr indent="0" marL="0">
              <a:lnSpc>
                <a:spcPct val="140000"/>
              </a:lnSpc>
              <a:buNone/>
            </a:pPr>
            <a:r>
              <a:rPr lang="en-US" sz="1000" dirty="0">
                <a:solidFill>
                  <a:srgbClr val="2D2D2D"/>
                </a:solidFill>
                <a:latin typeface="Meiryo" pitchFamily="34" charset="0"/>
                <a:ea typeface="Meiryo" pitchFamily="34" charset="-122"/>
                <a:cs typeface="Meiryo" pitchFamily="34" charset="-120"/>
              </a:rPr>
              <a:t>現時点では手動登録対象のリソースが限定的でも、将来的にクラウドリソースが増加した場合、ポータル申請ベースの手動登録運用が破綻する可能性がある。リソース数の上限目安や、一定数を超えた場合の自動収集への切替え基準を事前に定めておく必要がある。</a:t>
            </a:r>
            <a:endParaRPr lang="en-US" sz="1000" dirty="0"/>
          </a:p>
        </p:txBody>
      </p:sp>
      <p:sp>
        <p:nvSpPr>
          <p:cNvPr id="16" name="Shape 14"/>
          <p:cNvSpPr/>
          <p:nvPr/>
        </p:nvSpPr>
        <p:spPr>
          <a:xfrm>
            <a:off x="0" y="4892040"/>
            <a:ext cx="9144000" cy="251460"/>
          </a:xfrm>
          <a:prstGeom prst="rect">
            <a:avLst/>
          </a:prstGeom>
          <a:solidFill>
            <a:srgbClr val="F4F6F9"/>
          </a:solidFill>
          <a:ln/>
        </p:spPr>
      </p:sp>
      <p:sp>
        <p:nvSpPr>
          <p:cNvPr id="17" name="Text 15"/>
          <p:cNvSpPr/>
          <p:nvPr/>
        </p:nvSpPr>
        <p:spPr>
          <a:xfrm>
            <a:off x="548640" y="4892040"/>
            <a:ext cx="6400800" cy="251460"/>
          </a:xfrm>
          <a:prstGeom prst="rect">
            <a:avLst/>
          </a:prstGeom>
          <a:noFill/>
          <a:ln/>
        </p:spPr>
        <p:txBody>
          <a:bodyPr wrap="square" lIns="0" tIns="0" rIns="0" bIns="0" rtlCol="0" anchor="ctr"/>
          <a:lstStyle/>
          <a:p>
            <a:pPr indent="0" marL="0">
              <a:buNone/>
            </a:pPr>
            <a:r>
              <a:rPr lang="en-US" sz="800" dirty="0">
                <a:solidFill>
                  <a:srgbClr val="5A6A7A"/>
                </a:solidFill>
                <a:latin typeface="Meiryo" pitchFamily="34" charset="0"/>
                <a:ea typeface="Meiryo" pitchFamily="34" charset="-122"/>
                <a:cs typeface="Meiryo" pitchFamily="34" charset="-120"/>
              </a:rPr>
              <a:t>ISM-1323 クラウドリソース手動登録 運用懸念点</a:t>
            </a:r>
            <a:endParaRPr lang="en-US" sz="800" dirty="0"/>
          </a:p>
        </p:txBody>
      </p:sp>
      <p:sp>
        <p:nvSpPr>
          <p:cNvPr id="18" name="Text 16"/>
          <p:cNvSpPr/>
          <p:nvPr/>
        </p:nvSpPr>
        <p:spPr>
          <a:xfrm>
            <a:off x="7315200" y="4892040"/>
            <a:ext cx="1371600" cy="251460"/>
          </a:xfrm>
          <a:prstGeom prst="rect">
            <a:avLst/>
          </a:prstGeom>
          <a:noFill/>
          <a:ln/>
        </p:spPr>
        <p:txBody>
          <a:bodyPr wrap="square" lIns="0" tIns="0" rIns="0" bIns="0" rtlCol="0" anchor="ctr"/>
          <a:lstStyle/>
          <a:p>
            <a:pPr algn="r" indent="0" marL="0">
              <a:buNone/>
            </a:pPr>
            <a:r>
              <a:rPr lang="en-US" sz="800" dirty="0">
                <a:solidFill>
                  <a:srgbClr val="5A6A7A"/>
                </a:solidFill>
                <a:latin typeface="Meiryo" pitchFamily="34" charset="0"/>
                <a:ea typeface="Meiryo" pitchFamily="34" charset="-122"/>
                <a:cs typeface="Meiryo" pitchFamily="34" charset="-120"/>
              </a:rPr>
              <a:t>6 / 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D. セキュリティ・監査・他プロセス連携の懸念点</a:t>
            </a:r>
            <a:endParaRPr lang="en-US" sz="2000" dirty="0"/>
          </a:p>
        </p:txBody>
      </p:sp>
      <p:sp>
        <p:nvSpPr>
          <p:cNvPr id="4" name="Shape 2"/>
          <p:cNvSpPr/>
          <p:nvPr/>
        </p:nvSpPr>
        <p:spPr>
          <a:xfrm>
            <a:off x="548640" y="914400"/>
            <a:ext cx="502920" cy="320040"/>
          </a:xfrm>
          <a:prstGeom prst="rect">
            <a:avLst/>
          </a:prstGeom>
          <a:solidFill>
            <a:srgbClr val="C44D4D"/>
          </a:solidFill>
          <a:ln/>
        </p:spPr>
      </p:sp>
      <p:sp>
        <p:nvSpPr>
          <p:cNvPr id="5" name="Text 3"/>
          <p:cNvSpPr/>
          <p:nvPr/>
        </p:nvSpPr>
        <p:spPr>
          <a:xfrm>
            <a:off x="548640" y="914400"/>
            <a:ext cx="5029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D-1</a:t>
            </a:r>
            <a:endParaRPr lang="en-US" sz="1000" dirty="0"/>
          </a:p>
        </p:txBody>
      </p:sp>
      <p:sp>
        <p:nvSpPr>
          <p:cNvPr id="6" name="Text 4"/>
          <p:cNvSpPr/>
          <p:nvPr/>
        </p:nvSpPr>
        <p:spPr>
          <a:xfrm>
            <a:off x="1188720" y="914400"/>
            <a:ext cx="7406640" cy="320040"/>
          </a:xfrm>
          <a:prstGeom prst="rect">
            <a:avLst/>
          </a:prstGeom>
          <a:noFill/>
          <a:ln/>
        </p:spPr>
        <p:txBody>
          <a:bodyPr wrap="square" lIns="0" tIns="0" rIns="0" bIns="0" rtlCol="0" anchor="ctr"/>
          <a:lstStyle/>
          <a:p>
            <a:pPr indent="0" marL="0">
              <a:buNone/>
            </a:pPr>
            <a:r>
              <a:rPr lang="en-US" sz="1200" b="1" dirty="0">
                <a:solidFill>
                  <a:srgbClr val="1B2A4A"/>
                </a:solidFill>
                <a:latin typeface="Meiryo" pitchFamily="34" charset="0"/>
                <a:ea typeface="Meiryo" pitchFamily="34" charset="-122"/>
                <a:cs typeface="Meiryo" pitchFamily="34" charset="-120"/>
              </a:rPr>
              <a:t>VR / SIR連携への影響</a:t>
            </a:r>
            <a:endParaRPr lang="en-US" sz="1200" dirty="0"/>
          </a:p>
        </p:txBody>
      </p:sp>
      <p:sp>
        <p:nvSpPr>
          <p:cNvPr id="7" name="Text 5"/>
          <p:cNvSpPr/>
          <p:nvPr/>
        </p:nvSpPr>
        <p:spPr>
          <a:xfrm>
            <a:off x="1188720" y="1252728"/>
            <a:ext cx="7406640" cy="594360"/>
          </a:xfrm>
          <a:prstGeom prst="rect">
            <a:avLst/>
          </a:prstGeom>
          <a:noFill/>
          <a:ln/>
        </p:spPr>
        <p:txBody>
          <a:bodyPr wrap="square" lIns="0" tIns="0" rIns="0" bIns="0" rtlCol="0" anchor="t"/>
          <a:lstStyle/>
          <a:p>
            <a:pPr indent="0" marL="0">
              <a:lnSpc>
                <a:spcPct val="135000"/>
              </a:lnSpc>
              <a:buNone/>
            </a:pPr>
            <a:r>
              <a:rPr lang="en-US" sz="900" dirty="0">
                <a:solidFill>
                  <a:srgbClr val="2D2D2D"/>
                </a:solidFill>
                <a:latin typeface="Meiryo" pitchFamily="34" charset="0"/>
                <a:ea typeface="Meiryo" pitchFamily="34" charset="-122"/>
                <a:cs typeface="Meiryo" pitchFamily="34" charset="-120"/>
              </a:rPr>
              <a:t>手動登録CIがクラウドサービスアカウントと正しく紐づいていない場合、Vulnerability Response（VR）での脆弱性スキャン対象の把握やSecurity Incident Response（SIR）での影響範囲特定が不正確になる。特にアカウント配下のリソース一覧が不完全になることで、セキュリティリスクの見落としが発生する可能性がある。</a:t>
            </a:r>
            <a:endParaRPr lang="en-US" sz="900" dirty="0"/>
          </a:p>
        </p:txBody>
      </p:sp>
      <p:sp>
        <p:nvSpPr>
          <p:cNvPr id="8" name="Shape 6"/>
          <p:cNvSpPr/>
          <p:nvPr/>
        </p:nvSpPr>
        <p:spPr>
          <a:xfrm>
            <a:off x="548640" y="1920240"/>
            <a:ext cx="502920" cy="320040"/>
          </a:xfrm>
          <a:prstGeom prst="rect">
            <a:avLst/>
          </a:prstGeom>
          <a:solidFill>
            <a:srgbClr val="C44D4D"/>
          </a:solidFill>
          <a:ln/>
        </p:spPr>
      </p:sp>
      <p:sp>
        <p:nvSpPr>
          <p:cNvPr id="9" name="Text 7"/>
          <p:cNvSpPr/>
          <p:nvPr/>
        </p:nvSpPr>
        <p:spPr>
          <a:xfrm>
            <a:off x="548640" y="1920240"/>
            <a:ext cx="5029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D-2</a:t>
            </a:r>
            <a:endParaRPr lang="en-US" sz="1000" dirty="0"/>
          </a:p>
        </p:txBody>
      </p:sp>
      <p:sp>
        <p:nvSpPr>
          <p:cNvPr id="10" name="Text 8"/>
          <p:cNvSpPr/>
          <p:nvPr/>
        </p:nvSpPr>
        <p:spPr>
          <a:xfrm>
            <a:off x="1188720" y="1920240"/>
            <a:ext cx="7406640" cy="320040"/>
          </a:xfrm>
          <a:prstGeom prst="rect">
            <a:avLst/>
          </a:prstGeom>
          <a:noFill/>
          <a:ln/>
        </p:spPr>
        <p:txBody>
          <a:bodyPr wrap="square" lIns="0" tIns="0" rIns="0" bIns="0" rtlCol="0" anchor="ctr"/>
          <a:lstStyle/>
          <a:p>
            <a:pPr indent="0" marL="0">
              <a:buNone/>
            </a:pPr>
            <a:r>
              <a:rPr lang="en-US" sz="1200" b="1" dirty="0">
                <a:solidFill>
                  <a:srgbClr val="1B2A4A"/>
                </a:solidFill>
                <a:latin typeface="Meiryo" pitchFamily="34" charset="0"/>
                <a:ea typeface="Meiryo" pitchFamily="34" charset="-122"/>
                <a:cs typeface="Meiryo" pitchFamily="34" charset="-120"/>
              </a:rPr>
              <a:t>Change Management / Impact Analysisの精度低下</a:t>
            </a:r>
            <a:endParaRPr lang="en-US" sz="1200" dirty="0"/>
          </a:p>
        </p:txBody>
      </p:sp>
      <p:sp>
        <p:nvSpPr>
          <p:cNvPr id="11" name="Text 9"/>
          <p:cNvSpPr/>
          <p:nvPr/>
        </p:nvSpPr>
        <p:spPr>
          <a:xfrm>
            <a:off x="1188720" y="2258568"/>
            <a:ext cx="7406640" cy="594360"/>
          </a:xfrm>
          <a:prstGeom prst="rect">
            <a:avLst/>
          </a:prstGeom>
          <a:noFill/>
          <a:ln/>
        </p:spPr>
        <p:txBody>
          <a:bodyPr wrap="square" lIns="0" tIns="0" rIns="0" bIns="0" rtlCol="0" anchor="t"/>
          <a:lstStyle/>
          <a:p>
            <a:pPr indent="0" marL="0">
              <a:lnSpc>
                <a:spcPct val="135000"/>
              </a:lnSpc>
              <a:buNone/>
            </a:pPr>
            <a:r>
              <a:rPr lang="en-US" sz="900" dirty="0">
                <a:solidFill>
                  <a:srgbClr val="2D2D2D"/>
                </a:solidFill>
                <a:latin typeface="Meiryo" pitchFamily="34" charset="0"/>
                <a:ea typeface="Meiryo" pitchFamily="34" charset="-122"/>
                <a:cs typeface="Meiryo" pitchFamily="34" charset="-120"/>
              </a:rPr>
              <a:t>CI Relationshipsが不完全な状態では、変更管理における影響範囲分析（Impact Analysis）が正確に機能しない。依存関係ビューが作成されないため、変更実施時の影響CIの特定が困難になり、障害発生時の根本原因分析（RCA）にも支障をきたす。</a:t>
            </a:r>
            <a:endParaRPr lang="en-US" sz="900" dirty="0"/>
          </a:p>
        </p:txBody>
      </p:sp>
      <p:sp>
        <p:nvSpPr>
          <p:cNvPr id="12" name="Shape 10"/>
          <p:cNvSpPr/>
          <p:nvPr/>
        </p:nvSpPr>
        <p:spPr>
          <a:xfrm>
            <a:off x="548640" y="2926080"/>
            <a:ext cx="502920" cy="320040"/>
          </a:xfrm>
          <a:prstGeom prst="rect">
            <a:avLst/>
          </a:prstGeom>
          <a:solidFill>
            <a:srgbClr val="C44D4D"/>
          </a:solidFill>
          <a:ln/>
        </p:spPr>
      </p:sp>
      <p:sp>
        <p:nvSpPr>
          <p:cNvPr id="13" name="Text 11"/>
          <p:cNvSpPr/>
          <p:nvPr/>
        </p:nvSpPr>
        <p:spPr>
          <a:xfrm>
            <a:off x="548640" y="2926080"/>
            <a:ext cx="5029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D-3</a:t>
            </a:r>
            <a:endParaRPr lang="en-US" sz="1000" dirty="0"/>
          </a:p>
        </p:txBody>
      </p:sp>
      <p:sp>
        <p:nvSpPr>
          <p:cNvPr id="14" name="Text 12"/>
          <p:cNvSpPr/>
          <p:nvPr/>
        </p:nvSpPr>
        <p:spPr>
          <a:xfrm>
            <a:off x="1188720" y="2926080"/>
            <a:ext cx="7406640" cy="320040"/>
          </a:xfrm>
          <a:prstGeom prst="rect">
            <a:avLst/>
          </a:prstGeom>
          <a:noFill/>
          <a:ln/>
        </p:spPr>
        <p:txBody>
          <a:bodyPr wrap="square" lIns="0" tIns="0" rIns="0" bIns="0" rtlCol="0" anchor="ctr"/>
          <a:lstStyle/>
          <a:p>
            <a:pPr indent="0" marL="0">
              <a:buNone/>
            </a:pPr>
            <a:r>
              <a:rPr lang="en-US" sz="1200" b="1" dirty="0">
                <a:solidFill>
                  <a:srgbClr val="1B2A4A"/>
                </a:solidFill>
                <a:latin typeface="Meiryo" pitchFamily="34" charset="0"/>
                <a:ea typeface="Meiryo" pitchFamily="34" charset="-122"/>
                <a:cs typeface="Meiryo" pitchFamily="34" charset="-120"/>
              </a:rPr>
              <a:t>監査・コンプライアンス対応でのCMDB信頼性の問題</a:t>
            </a:r>
            <a:endParaRPr lang="en-US" sz="1200" dirty="0"/>
          </a:p>
        </p:txBody>
      </p:sp>
      <p:sp>
        <p:nvSpPr>
          <p:cNvPr id="15" name="Text 13"/>
          <p:cNvSpPr/>
          <p:nvPr/>
        </p:nvSpPr>
        <p:spPr>
          <a:xfrm>
            <a:off x="1188720" y="3264408"/>
            <a:ext cx="7406640" cy="594360"/>
          </a:xfrm>
          <a:prstGeom prst="rect">
            <a:avLst/>
          </a:prstGeom>
          <a:noFill/>
          <a:ln/>
        </p:spPr>
        <p:txBody>
          <a:bodyPr wrap="square" lIns="0" tIns="0" rIns="0" bIns="0" rtlCol="0" anchor="t"/>
          <a:lstStyle/>
          <a:p>
            <a:pPr indent="0" marL="0">
              <a:lnSpc>
                <a:spcPct val="135000"/>
              </a:lnSpc>
              <a:buNone/>
            </a:pPr>
            <a:r>
              <a:rPr lang="en-US" sz="900" dirty="0">
                <a:solidFill>
                  <a:srgbClr val="2D2D2D"/>
                </a:solidFill>
                <a:latin typeface="Meiryo" pitchFamily="34" charset="0"/>
                <a:ea typeface="Meiryo" pitchFamily="34" charset="-122"/>
                <a:cs typeface="Meiryo" pitchFamily="34" charset="-120"/>
              </a:rPr>
              <a:t>手動登録に依存する場合、CMDBデータとクラウド実環境の乖離が発生しやすい。IT監査やセキュリティ監査の際に、CMDB情報の正確性・最新性を証明することが困難となり、監査対応コストが増大する。また、手動登録の操作履歴・変更履歴の管理方針も整備が必要。</a:t>
            </a:r>
            <a:endParaRPr lang="en-US" sz="900" dirty="0"/>
          </a:p>
        </p:txBody>
      </p:sp>
      <p:sp>
        <p:nvSpPr>
          <p:cNvPr id="16" name="Shape 14"/>
          <p:cNvSpPr/>
          <p:nvPr/>
        </p:nvSpPr>
        <p:spPr>
          <a:xfrm>
            <a:off x="548640" y="3931920"/>
            <a:ext cx="502920" cy="320040"/>
          </a:xfrm>
          <a:prstGeom prst="rect">
            <a:avLst/>
          </a:prstGeom>
          <a:solidFill>
            <a:srgbClr val="C44D4D"/>
          </a:solidFill>
          <a:ln/>
        </p:spPr>
      </p:sp>
      <p:sp>
        <p:nvSpPr>
          <p:cNvPr id="17" name="Text 15"/>
          <p:cNvSpPr/>
          <p:nvPr/>
        </p:nvSpPr>
        <p:spPr>
          <a:xfrm>
            <a:off x="548640" y="3931920"/>
            <a:ext cx="5029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D-4</a:t>
            </a:r>
            <a:endParaRPr lang="en-US" sz="1000" dirty="0"/>
          </a:p>
        </p:txBody>
      </p:sp>
      <p:sp>
        <p:nvSpPr>
          <p:cNvPr id="18" name="Text 16"/>
          <p:cNvSpPr/>
          <p:nvPr/>
        </p:nvSpPr>
        <p:spPr>
          <a:xfrm>
            <a:off x="1188720" y="3931920"/>
            <a:ext cx="7406640" cy="320040"/>
          </a:xfrm>
          <a:prstGeom prst="rect">
            <a:avLst/>
          </a:prstGeom>
          <a:noFill/>
          <a:ln/>
        </p:spPr>
        <p:txBody>
          <a:bodyPr wrap="square" lIns="0" tIns="0" rIns="0" bIns="0" rtlCol="0" anchor="ctr"/>
          <a:lstStyle/>
          <a:p>
            <a:pPr indent="0" marL="0">
              <a:buNone/>
            </a:pPr>
            <a:r>
              <a:rPr lang="en-US" sz="1200" b="1" dirty="0">
                <a:solidFill>
                  <a:srgbClr val="1B2A4A"/>
                </a:solidFill>
                <a:latin typeface="Meiryo" pitchFamily="34" charset="0"/>
                <a:ea typeface="Meiryo" pitchFamily="34" charset="-122"/>
                <a:cs typeface="Meiryo" pitchFamily="34" charset="-120"/>
              </a:rPr>
              <a:t>Incident Management連携時のCI特定精度</a:t>
            </a:r>
            <a:endParaRPr lang="en-US" sz="1200" dirty="0"/>
          </a:p>
        </p:txBody>
      </p:sp>
      <p:sp>
        <p:nvSpPr>
          <p:cNvPr id="19" name="Text 17"/>
          <p:cNvSpPr/>
          <p:nvPr/>
        </p:nvSpPr>
        <p:spPr>
          <a:xfrm>
            <a:off x="1188720" y="4270248"/>
            <a:ext cx="7406640" cy="594360"/>
          </a:xfrm>
          <a:prstGeom prst="rect">
            <a:avLst/>
          </a:prstGeom>
          <a:noFill/>
          <a:ln/>
        </p:spPr>
        <p:txBody>
          <a:bodyPr wrap="square" lIns="0" tIns="0" rIns="0" bIns="0" rtlCol="0" anchor="t"/>
          <a:lstStyle/>
          <a:p>
            <a:pPr indent="0" marL="0">
              <a:lnSpc>
                <a:spcPct val="135000"/>
              </a:lnSpc>
              <a:buNone/>
            </a:pPr>
            <a:r>
              <a:rPr lang="en-US" sz="900" dirty="0">
                <a:solidFill>
                  <a:srgbClr val="2D2D2D"/>
                </a:solidFill>
                <a:latin typeface="Meiryo" pitchFamily="34" charset="0"/>
                <a:ea typeface="Meiryo" pitchFamily="34" charset="-122"/>
                <a:cs typeface="Meiryo" pitchFamily="34" charset="-120"/>
              </a:rPr>
              <a:t>インシデント発生時にCMDBからCIを特定する際、手動登録CIの属性不備やRelationship欠如により、影響を受けるCIの特定に時間がかかる。アラート連携やイベント管理との自動紐づけも、CIデータの不正確さにより機能しない可能性がある。</a:t>
            </a:r>
            <a:endParaRPr lang="en-US" sz="900" dirty="0"/>
          </a:p>
        </p:txBody>
      </p:sp>
      <p:sp>
        <p:nvSpPr>
          <p:cNvPr id="20" name="Shape 18"/>
          <p:cNvSpPr/>
          <p:nvPr/>
        </p:nvSpPr>
        <p:spPr>
          <a:xfrm>
            <a:off x="0" y="4892040"/>
            <a:ext cx="9144000" cy="251460"/>
          </a:xfrm>
          <a:prstGeom prst="rect">
            <a:avLst/>
          </a:prstGeom>
          <a:solidFill>
            <a:srgbClr val="F4F6F9"/>
          </a:solidFill>
          <a:ln/>
        </p:spPr>
      </p:sp>
      <p:sp>
        <p:nvSpPr>
          <p:cNvPr id="21" name="Text 19"/>
          <p:cNvSpPr/>
          <p:nvPr/>
        </p:nvSpPr>
        <p:spPr>
          <a:xfrm>
            <a:off x="548640" y="4892040"/>
            <a:ext cx="6400800" cy="251460"/>
          </a:xfrm>
          <a:prstGeom prst="rect">
            <a:avLst/>
          </a:prstGeom>
          <a:noFill/>
          <a:ln/>
        </p:spPr>
        <p:txBody>
          <a:bodyPr wrap="square" lIns="0" tIns="0" rIns="0" bIns="0" rtlCol="0" anchor="ctr"/>
          <a:lstStyle/>
          <a:p>
            <a:pPr indent="0" marL="0">
              <a:buNone/>
            </a:pPr>
            <a:r>
              <a:rPr lang="en-US" sz="800" dirty="0">
                <a:solidFill>
                  <a:srgbClr val="5A6A7A"/>
                </a:solidFill>
                <a:latin typeface="Meiryo" pitchFamily="34" charset="0"/>
                <a:ea typeface="Meiryo" pitchFamily="34" charset="-122"/>
                <a:cs typeface="Meiryo" pitchFamily="34" charset="-120"/>
              </a:rPr>
              <a:t>ISM-1323 クラウドリソース手動登録 運用懸念点</a:t>
            </a:r>
            <a:endParaRPr lang="en-US" sz="800" dirty="0"/>
          </a:p>
        </p:txBody>
      </p:sp>
      <p:sp>
        <p:nvSpPr>
          <p:cNvPr id="22" name="Text 20"/>
          <p:cNvSpPr/>
          <p:nvPr/>
        </p:nvSpPr>
        <p:spPr>
          <a:xfrm>
            <a:off x="7315200" y="4892040"/>
            <a:ext cx="1371600" cy="251460"/>
          </a:xfrm>
          <a:prstGeom prst="rect">
            <a:avLst/>
          </a:prstGeom>
          <a:noFill/>
          <a:ln/>
        </p:spPr>
        <p:txBody>
          <a:bodyPr wrap="square" lIns="0" tIns="0" rIns="0" bIns="0" rtlCol="0" anchor="ctr"/>
          <a:lstStyle/>
          <a:p>
            <a:pPr algn="r" indent="0" marL="0">
              <a:buNone/>
            </a:pPr>
            <a:r>
              <a:rPr lang="en-US" sz="800" dirty="0">
                <a:solidFill>
                  <a:srgbClr val="5A6A7A"/>
                </a:solidFill>
                <a:latin typeface="Meiryo" pitchFamily="34" charset="0"/>
                <a:ea typeface="Meiryo" pitchFamily="34" charset="-122"/>
                <a:cs typeface="Meiryo" pitchFamily="34" charset="-120"/>
              </a:rPr>
              <a:t>7 / 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sp>
      <p:sp>
        <p:nvSpPr>
          <p:cNvPr id="3" name="Text 1"/>
          <p:cNvSpPr/>
          <p:nvPr/>
        </p:nvSpPr>
        <p:spPr>
          <a:xfrm>
            <a:off x="5486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懸念点一覧サマリ</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8595360" cy="914400"/>
        </p:xfrm>
        <a:graphic>
          <a:graphicData uri="http://schemas.openxmlformats.org/drawingml/2006/table">
            <a:tbl>
              <a:tblPr/>
              <a:tblGrid>
                <a:gridCol w="411480"/>
                <a:gridCol w="914400"/>
                <a:gridCol w="2926080"/>
                <a:gridCol w="457200"/>
                <a:gridCol w="3657600"/>
              </a:tblGrid>
              <a:tr h="237744">
                <a:tc>
                  <a:txBody>
                    <a:bodyPr/>
                    <a:lstStyle/>
                    <a:p>
                      <a:pPr algn="ctr" indent="0" marL="0">
                        <a:buNone/>
                      </a:pPr>
                      <a:r>
                        <a:rPr lang="en-US" sz="800" b="1" dirty="0">
                          <a:solidFill>
                            <a:srgbClr val="FFFFFF"/>
                          </a:solidFill>
                          <a:latin typeface="Meiryo" pitchFamily="34" charset="0"/>
                          <a:ea typeface="Meiryo" pitchFamily="34" charset="-122"/>
                          <a:cs typeface="Meiryo" pitchFamily="34" charset="-120"/>
                        </a:rPr>
                        <a:t>No.</a:t>
                      </a:r>
                      <a:endParaRPr lang="en-US" sz="8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A4A"/>
                    </a:solidFill>
                  </a:tcPr>
                </a:tc>
                <a:tc>
                  <a:txBody>
                    <a:bodyPr/>
                    <a:lstStyle/>
                    <a:p>
                      <a:pPr algn="ctr" indent="0" marL="0">
                        <a:buNone/>
                      </a:pPr>
                      <a:r>
                        <a:rPr lang="en-US" sz="800" b="1" dirty="0">
                          <a:solidFill>
                            <a:srgbClr val="FFFFFF"/>
                          </a:solidFill>
                          <a:latin typeface="Meiryo" pitchFamily="34" charset="0"/>
                          <a:ea typeface="Meiryo" pitchFamily="34" charset="-122"/>
                          <a:cs typeface="Meiryo" pitchFamily="34" charset="-120"/>
                        </a:rPr>
                        <a:t>カテゴリ</a:t>
                      </a:r>
                      <a:endParaRPr lang="en-US" sz="8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A4A"/>
                    </a:solidFill>
                  </a:tcPr>
                </a:tc>
                <a:tc>
                  <a:txBody>
                    <a:bodyPr/>
                    <a:lstStyle/>
                    <a:p>
                      <a:pPr algn="ctr" indent="0" marL="0">
                        <a:buNone/>
                      </a:pPr>
                      <a:r>
                        <a:rPr lang="en-US" sz="800" b="1" dirty="0">
                          <a:solidFill>
                            <a:srgbClr val="FFFFFF"/>
                          </a:solidFill>
                          <a:latin typeface="Meiryo" pitchFamily="34" charset="0"/>
                          <a:ea typeface="Meiryo" pitchFamily="34" charset="-122"/>
                          <a:cs typeface="Meiryo" pitchFamily="34" charset="-120"/>
                        </a:rPr>
                        <a:t>懸念点</a:t>
                      </a:r>
                      <a:endParaRPr lang="en-US" sz="8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A4A"/>
                    </a:solidFill>
                  </a:tcPr>
                </a:tc>
                <a:tc>
                  <a:txBody>
                    <a:bodyPr/>
                    <a:lstStyle/>
                    <a:p>
                      <a:pPr algn="ctr" indent="0" marL="0">
                        <a:buNone/>
                      </a:pPr>
                      <a:r>
                        <a:rPr lang="en-US" sz="800" b="1" dirty="0">
                          <a:solidFill>
                            <a:srgbClr val="FFFFFF"/>
                          </a:solidFill>
                          <a:latin typeface="Meiryo" pitchFamily="34" charset="0"/>
                          <a:ea typeface="Meiryo" pitchFamily="34" charset="-122"/>
                          <a:cs typeface="Meiryo" pitchFamily="34" charset="-120"/>
                        </a:rPr>
                        <a:t>影響度</a:t>
                      </a:r>
                      <a:endParaRPr lang="en-US" sz="8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A4A"/>
                    </a:solidFill>
                  </a:tcPr>
                </a:tc>
                <a:tc>
                  <a:txBody>
                    <a:bodyPr/>
                    <a:lstStyle/>
                    <a:p>
                      <a:pPr algn="ctr" indent="0" marL="0">
                        <a:buNone/>
                      </a:pPr>
                      <a:r>
                        <a:rPr lang="en-US" sz="800" b="1" dirty="0">
                          <a:solidFill>
                            <a:srgbClr val="FFFFFF"/>
                          </a:solidFill>
                          <a:latin typeface="Meiryo" pitchFamily="34" charset="0"/>
                          <a:ea typeface="Meiryo" pitchFamily="34" charset="-122"/>
                          <a:cs typeface="Meiryo" pitchFamily="34" charset="-120"/>
                        </a:rPr>
                        <a:t>対応方針（案）</a:t>
                      </a:r>
                      <a:endParaRPr lang="en-US" sz="8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A4A"/>
                    </a:solidFill>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A-1</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申請フロー</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申請フォーム入力項目の設計・標準化</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必須項目定義、バリデーション実装</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A-2</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申請フロー</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申請者の権限管理とロール設計</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ロール設計、承認フロー構築</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A-3</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申請フロー</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申請～登録完了までのリードタイム管理</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SLA設定、優先度ルール策定</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B-1</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データ品質</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CI属性情報の入力ミス・記載漏れ</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入力チェック、AWS/Azure情報との突合</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B-2</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データ品質</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CI Relationshipsの手動構築の困難さ</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テンプレート化、自動補完ルール検討</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B-3</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データ品質</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クラウドサービスアカウントとの紐づけ漏れ</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アカウント情報の必須入力化</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B-4</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データ品質</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CMDB Healthスコアへの悪影響</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定期モニタリング、改善PDCA</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B-5</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データ品質</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自動収集CIとの重複・不整合リスク</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IREルール設計、移行計画策定</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C-1</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ライフサイクル</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リソース変更・削除時のCMDB追従遅延</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削除申請フロー整備、定期突合</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C-2</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ライフサイクル</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定期棚卸し（Attestation）の運用負荷</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棚卸し頻度・担当者設計</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C-3</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ライフサイクル</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リソース増加時の運用破綻リスク</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上限目安設定、自動収集切替基準</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D-1</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セキュリティ</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VR/SIR連携への影響</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アカウント紐づけ必須化で対応</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D-2</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セキュリティ</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Change Management / Impact Analysis精度低下</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C44D4D"/>
                          </a:solidFill>
                          <a:latin typeface="Meiryo" pitchFamily="34" charset="0"/>
                          <a:ea typeface="Meiryo" pitchFamily="34" charset="-122"/>
                          <a:cs typeface="Meiryo" pitchFamily="34" charset="-120"/>
                        </a:rPr>
                        <a:t>高</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Relationship構築ルール整備</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D-3</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セキュリティ</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監査・コンプライアンス対応のCMDB信頼性</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変更履歴管理、監査証跡整備</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r h="219456">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D-4</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1B2A4A"/>
                          </a:solidFill>
                          <a:latin typeface="Meiryo" pitchFamily="34" charset="0"/>
                          <a:ea typeface="Meiryo" pitchFamily="34" charset="-122"/>
                          <a:cs typeface="Meiryo" pitchFamily="34" charset="-120"/>
                        </a:rPr>
                        <a:t>セキュリティ</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Incident Management連携時のCI特定精度</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algn="ctr" indent="0" marL="0">
                        <a:buNone/>
                      </a:pPr>
                      <a:r>
                        <a:rPr lang="en-US" sz="700" b="1" dirty="0">
                          <a:solidFill>
                            <a:srgbClr val="E8913A"/>
                          </a:solidFill>
                          <a:latin typeface="Meiryo" pitchFamily="34" charset="0"/>
                          <a:ea typeface="Meiryo" pitchFamily="34" charset="-122"/>
                          <a:cs typeface="Meiryo" pitchFamily="34" charset="-120"/>
                        </a:rPr>
                        <a:t>中</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700" dirty="0">
                          <a:solidFill>
                            <a:srgbClr val="2D2D2D"/>
                          </a:solidFill>
                          <a:latin typeface="Meiryo" pitchFamily="34" charset="0"/>
                          <a:ea typeface="Meiryo" pitchFamily="34" charset="-122"/>
                          <a:cs typeface="Meiryo" pitchFamily="34" charset="-120"/>
                        </a:rPr>
                        <a:t>CI属性充実化、アラート連携設計</a:t>
                      </a:r>
                      <a:endParaRPr lang="en-US" sz="700" dirty="0">
                        <a:latin typeface="Meiryo" charset="0"/>
                        <a:ea typeface="Meiryo" charset="0"/>
                        <a:cs typeface="Meiryo" charset="0"/>
                      </a:endParaRPr>
                    </a:p>
                  </a:txBody>
                  <a:tcPr marL="91440" marR="91440" marT="45720" marB="45720" anchor="ctr">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r>
            </a:tbl>
          </a:graphicData>
        </a:graphic>
      </p:graphicFrame>
      <p:sp>
        <p:nvSpPr>
          <p:cNvPr id="5" name="Shape 2"/>
          <p:cNvSpPr/>
          <p:nvPr/>
        </p:nvSpPr>
        <p:spPr>
          <a:xfrm>
            <a:off x="0" y="4892040"/>
            <a:ext cx="9144000" cy="251460"/>
          </a:xfrm>
          <a:prstGeom prst="rect">
            <a:avLst/>
          </a:prstGeom>
          <a:solidFill>
            <a:srgbClr val="F4F6F9"/>
          </a:solidFill>
          <a:ln/>
        </p:spPr>
      </p:sp>
      <p:sp>
        <p:nvSpPr>
          <p:cNvPr id="6" name="Text 3"/>
          <p:cNvSpPr/>
          <p:nvPr/>
        </p:nvSpPr>
        <p:spPr>
          <a:xfrm>
            <a:off x="548640" y="4892040"/>
            <a:ext cx="6400800" cy="251460"/>
          </a:xfrm>
          <a:prstGeom prst="rect">
            <a:avLst/>
          </a:prstGeom>
          <a:noFill/>
          <a:ln/>
        </p:spPr>
        <p:txBody>
          <a:bodyPr wrap="square" lIns="0" tIns="0" rIns="0" bIns="0" rtlCol="0" anchor="ctr"/>
          <a:lstStyle/>
          <a:p>
            <a:pPr indent="0" marL="0">
              <a:buNone/>
            </a:pPr>
            <a:r>
              <a:rPr lang="en-US" sz="700" dirty="0">
                <a:solidFill>
                  <a:srgbClr val="5A6A7A"/>
                </a:solidFill>
                <a:latin typeface="Meiryo" pitchFamily="34" charset="0"/>
                <a:ea typeface="Meiryo" pitchFamily="34" charset="-122"/>
                <a:cs typeface="Meiryo" pitchFamily="34" charset="-120"/>
              </a:rPr>
              <a:t>※ B-6「タグ情報の管理・反映困難」（影響度：低）はスペースの都合上省略。詳細はスライド5参照。</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クラウドリソース手動登録時のポータル申請における運用懸念点</dc:title>
  <dc:subject>PptxGenJS Presentation</dc:subject>
  <dc:creator>ISM-1323</dc:creator>
  <cp:lastModifiedBy>ISM-1323</cp:lastModifiedBy>
  <cp:revision>1</cp:revision>
  <dcterms:created xsi:type="dcterms:W3CDTF">2026-03-12T00:05:03Z</dcterms:created>
  <dcterms:modified xsi:type="dcterms:W3CDTF">2026-03-12T00:05:03Z</dcterms:modified>
</cp:coreProperties>
</file>